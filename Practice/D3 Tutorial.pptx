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261" r:id="rId3"/>
    <p:sldId id="263" r:id="rId4"/>
    <p:sldId id="257" r:id="rId5"/>
    <p:sldId id="258" r:id="rId6"/>
    <p:sldId id="259" r:id="rId7"/>
    <p:sldId id="267" r:id="rId8"/>
    <p:sldId id="268" r:id="rId9"/>
    <p:sldId id="260" r:id="rId10"/>
    <p:sldId id="262" r:id="rId11"/>
    <p:sldId id="264" r:id="rId12"/>
    <p:sldId id="269" r:id="rId13"/>
    <p:sldId id="270" r:id="rId14"/>
    <p:sldId id="271" r:id="rId15"/>
    <p:sldId id="272" r:id="rId16"/>
    <p:sldId id="276" r:id="rId17"/>
    <p:sldId id="273" r:id="rId18"/>
    <p:sldId id="274" r:id="rId19"/>
    <p:sldId id="275" r:id="rId20"/>
    <p:sldId id="277" r:id="rId21"/>
    <p:sldId id="278" r:id="rId22"/>
    <p:sldId id="279" r:id="rId23"/>
    <p:sldId id="280" r:id="rId24"/>
    <p:sldId id="281" r:id="rId25"/>
    <p:sldId id="282" r:id="rId26"/>
    <p:sldId id="285" r:id="rId27"/>
    <p:sldId id="290" r:id="rId28"/>
    <p:sldId id="286" r:id="rId29"/>
    <p:sldId id="283" r:id="rId30"/>
    <p:sldId id="284" r:id="rId31"/>
    <p:sldId id="287" r:id="rId32"/>
    <p:sldId id="291" r:id="rId33"/>
    <p:sldId id="296" r:id="rId34"/>
    <p:sldId id="298" r:id="rId35"/>
    <p:sldId id="292" r:id="rId36"/>
    <p:sldId id="288" r:id="rId37"/>
    <p:sldId id="293" r:id="rId38"/>
    <p:sldId id="294" r:id="rId39"/>
    <p:sldId id="289" r:id="rId40"/>
    <p:sldId id="266" r:id="rId41"/>
    <p:sldId id="297" r:id="rId42"/>
    <p:sldId id="299" r:id="rId43"/>
    <p:sldId id="300" r:id="rId44"/>
    <p:sldId id="301" r:id="rId45"/>
    <p:sldId id="302"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B4F3F0-B356-4727-9AE6-46D4355BD338}">
          <p14:sldIdLst>
            <p14:sldId id="256"/>
            <p14:sldId id="261"/>
            <p14:sldId id="263"/>
            <p14:sldId id="257"/>
            <p14:sldId id="258"/>
            <p14:sldId id="259"/>
            <p14:sldId id="267"/>
            <p14:sldId id="268"/>
            <p14:sldId id="260"/>
            <p14:sldId id="262"/>
            <p14:sldId id="264"/>
            <p14:sldId id="269"/>
            <p14:sldId id="270"/>
            <p14:sldId id="271"/>
            <p14:sldId id="272"/>
            <p14:sldId id="276"/>
            <p14:sldId id="273"/>
            <p14:sldId id="274"/>
            <p14:sldId id="275"/>
            <p14:sldId id="277"/>
            <p14:sldId id="278"/>
            <p14:sldId id="279"/>
            <p14:sldId id="280"/>
            <p14:sldId id="281"/>
            <p14:sldId id="282"/>
            <p14:sldId id="285"/>
            <p14:sldId id="290"/>
            <p14:sldId id="286"/>
            <p14:sldId id="283"/>
            <p14:sldId id="284"/>
            <p14:sldId id="287"/>
            <p14:sldId id="291"/>
            <p14:sldId id="296"/>
            <p14:sldId id="298"/>
            <p14:sldId id="292"/>
            <p14:sldId id="288"/>
            <p14:sldId id="293"/>
            <p14:sldId id="294"/>
            <p14:sldId id="289"/>
            <p14:sldId id="266"/>
            <p14:sldId id="297"/>
            <p14:sldId id="299"/>
            <p14:sldId id="300"/>
            <p14:sldId id="301"/>
            <p14:sldId id="30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139" autoAdjust="0"/>
    <p:restoredTop sz="80284" autoAdjust="0"/>
  </p:normalViewPr>
  <p:slideViewPr>
    <p:cSldViewPr>
      <p:cViewPr varScale="1">
        <p:scale>
          <a:sx n="160" d="100"/>
          <a:sy n="160" d="100"/>
        </p:scale>
        <p:origin x="1904" y="1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3C02B6-A614-4A06-8833-024F1AB891F3}" type="datetimeFigureOut">
              <a:rPr lang="en-US" smtClean="0"/>
              <a:t>5/18/25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44550B-9233-424F-8D68-37285784B7E5}" type="slidenum">
              <a:rPr lang="en-US" smtClean="0"/>
              <a:t>‹#›</a:t>
            </a:fld>
            <a:endParaRPr lang="en-US"/>
          </a:p>
        </p:txBody>
      </p:sp>
    </p:spTree>
    <p:extLst>
      <p:ext uri="{BB962C8B-B14F-4D97-AF65-F5344CB8AC3E}">
        <p14:creationId xmlns:p14="http://schemas.microsoft.com/office/powerpoint/2010/main" val="2717922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https://www.dashingd3js.com/</a:t>
            </a:r>
          </a:p>
        </p:txBody>
      </p:sp>
      <p:sp>
        <p:nvSpPr>
          <p:cNvPr id="4" name="Slide Number Placeholder 3"/>
          <p:cNvSpPr>
            <a:spLocks noGrp="1"/>
          </p:cNvSpPr>
          <p:nvPr>
            <p:ph type="sldNum" sz="quarter" idx="10"/>
          </p:nvPr>
        </p:nvSpPr>
        <p:spPr/>
        <p:txBody>
          <a:bodyPr/>
          <a:lstStyle/>
          <a:p>
            <a:fld id="{3644550B-9233-424F-8D68-37285784B7E5}" type="slidenum">
              <a:rPr lang="en-US" smtClean="0"/>
              <a:t>11</a:t>
            </a:fld>
            <a:endParaRPr lang="en-US"/>
          </a:p>
        </p:txBody>
      </p:sp>
    </p:spTree>
    <p:extLst>
      <p:ext uri="{BB962C8B-B14F-4D97-AF65-F5344CB8AC3E}">
        <p14:creationId xmlns:p14="http://schemas.microsoft.com/office/powerpoint/2010/main" val="1534055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dirty="0"/>
              <a:t>Variables can be functions</a:t>
            </a:r>
          </a:p>
        </p:txBody>
      </p:sp>
      <p:sp>
        <p:nvSpPr>
          <p:cNvPr id="4" name="Slide Number Placeholder 3"/>
          <p:cNvSpPr>
            <a:spLocks noGrp="1"/>
          </p:cNvSpPr>
          <p:nvPr>
            <p:ph type="sldNum" sz="quarter" idx="10"/>
          </p:nvPr>
        </p:nvSpPr>
        <p:spPr/>
        <p:txBody>
          <a:bodyPr/>
          <a:lstStyle/>
          <a:p>
            <a:fld id="{7F2FFC01-3FD4-4FD6-B7C8-3E0AB26717B4}" type="slidenum">
              <a:rPr lang="en-GB" smtClean="0"/>
              <a:pPr/>
              <a:t>33</a:t>
            </a:fld>
            <a:endParaRPr lang="en-GB"/>
          </a:p>
        </p:txBody>
      </p:sp>
    </p:spTree>
    <p:extLst>
      <p:ext uri="{BB962C8B-B14F-4D97-AF65-F5344CB8AC3E}">
        <p14:creationId xmlns:p14="http://schemas.microsoft.com/office/powerpoint/2010/main" val="1667034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None/>
            </a:pPr>
            <a:r>
              <a:rPr lang="en-US" dirty="0"/>
              <a:t>This is very common in D3 examples</a:t>
            </a:r>
          </a:p>
        </p:txBody>
      </p:sp>
      <p:sp>
        <p:nvSpPr>
          <p:cNvPr id="4" name="Slide Number Placeholder 3"/>
          <p:cNvSpPr>
            <a:spLocks noGrp="1"/>
          </p:cNvSpPr>
          <p:nvPr>
            <p:ph type="sldNum" sz="quarter" idx="10"/>
          </p:nvPr>
        </p:nvSpPr>
        <p:spPr/>
        <p:txBody>
          <a:bodyPr/>
          <a:lstStyle/>
          <a:p>
            <a:fld id="{7F2FFC01-3FD4-4FD6-B7C8-3E0AB26717B4}" type="slidenum">
              <a:rPr lang="en-GB" smtClean="0"/>
              <a:pPr/>
              <a:t>41</a:t>
            </a:fld>
            <a:endParaRPr lang="en-GB"/>
          </a:p>
        </p:txBody>
      </p:sp>
    </p:spTree>
    <p:extLst>
      <p:ext uri="{BB962C8B-B14F-4D97-AF65-F5344CB8AC3E}">
        <p14:creationId xmlns:p14="http://schemas.microsoft.com/office/powerpoint/2010/main" val="17146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3EC8A82-0EDA-4678-AFD4-C215606E9C67}" type="datetimeFigureOut">
              <a:rPr lang="en-US" smtClean="0"/>
              <a:t>5/18/25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390145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EC8A82-0EDA-4678-AFD4-C215606E9C67}" type="datetimeFigureOut">
              <a:rPr lang="en-US" smtClean="0"/>
              <a:t>5/18/25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1379786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EC8A82-0EDA-4678-AFD4-C215606E9C67}" type="datetimeFigureOut">
              <a:rPr lang="en-US" smtClean="0"/>
              <a:t>5/18/25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4119806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EC8A82-0EDA-4678-AFD4-C215606E9C67}" type="datetimeFigureOut">
              <a:rPr lang="en-US" smtClean="0"/>
              <a:t>5/18/25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4048606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EC8A82-0EDA-4678-AFD4-C215606E9C67}" type="datetimeFigureOut">
              <a:rPr lang="en-US" smtClean="0"/>
              <a:t>5/18/25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1343053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EC8A82-0EDA-4678-AFD4-C215606E9C67}" type="datetimeFigureOut">
              <a:rPr lang="en-US" smtClean="0"/>
              <a:t>5/18/25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3996071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EC8A82-0EDA-4678-AFD4-C215606E9C67}" type="datetimeFigureOut">
              <a:rPr lang="en-US" smtClean="0"/>
              <a:t>5/18/25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191397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EC8A82-0EDA-4678-AFD4-C215606E9C67}" type="datetimeFigureOut">
              <a:rPr lang="en-US" smtClean="0"/>
              <a:t>5/18/25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3395213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EC8A82-0EDA-4678-AFD4-C215606E9C67}" type="datetimeFigureOut">
              <a:rPr lang="en-US" smtClean="0"/>
              <a:t>5/18/25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1377280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EC8A82-0EDA-4678-AFD4-C215606E9C67}" type="datetimeFigureOut">
              <a:rPr lang="en-US" smtClean="0"/>
              <a:t>5/18/25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1592178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EC8A82-0EDA-4678-AFD4-C215606E9C67}" type="datetimeFigureOut">
              <a:rPr lang="en-US" smtClean="0"/>
              <a:t>5/18/25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0ECEE8-BB99-4DDF-80F5-2305CF4B9B24}" type="slidenum">
              <a:rPr lang="en-US" smtClean="0"/>
              <a:t>‹#›</a:t>
            </a:fld>
            <a:endParaRPr lang="en-US"/>
          </a:p>
        </p:txBody>
      </p:sp>
    </p:spTree>
    <p:extLst>
      <p:ext uri="{BB962C8B-B14F-4D97-AF65-F5344CB8AC3E}">
        <p14:creationId xmlns:p14="http://schemas.microsoft.com/office/powerpoint/2010/main" val="517572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EC8A82-0EDA-4678-AFD4-C215606E9C67}" type="datetimeFigureOut">
              <a:rPr lang="en-US" smtClean="0"/>
              <a:t>5/18/25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0ECEE8-BB99-4DDF-80F5-2305CF4B9B24}" type="slidenum">
              <a:rPr lang="en-US" smtClean="0"/>
              <a:t>‹#›</a:t>
            </a:fld>
            <a:endParaRPr lang="en-US"/>
          </a:p>
        </p:txBody>
      </p:sp>
    </p:spTree>
    <p:extLst>
      <p:ext uri="{BB962C8B-B14F-4D97-AF65-F5344CB8AC3E}">
        <p14:creationId xmlns:p14="http://schemas.microsoft.com/office/powerpoint/2010/main" val="1625133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hyperlink" Target="http://christopheviau.com/d3_tutoria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tutorialsteacher.com/d3js/loading-data-from-file-in-d3js"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hyperlink" Target="https://alignedleft.com/tutorials/d3/scale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github.com/mbostock/d3/wiki/Quantitative-Scales#wiki-linear_rangeRound" TargetMode="External"/><Relationship Id="rId2" Type="http://schemas.openxmlformats.org/officeDocument/2006/relationships/hyperlink" Target="https://github.com/mbostock/d3/wiki/Quantitative-Scales#wiki-linear_nice" TargetMode="External"/><Relationship Id="rId1" Type="http://schemas.openxmlformats.org/officeDocument/2006/relationships/slideLayout" Target="../slideLayouts/slideLayout2.xml"/><Relationship Id="rId4" Type="http://schemas.openxmlformats.org/officeDocument/2006/relationships/hyperlink" Target="https://github.com/mbostock/d3/wiki/Quantitative-Scales#wiki-linear_clamp"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D3 Tutorial</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22248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D3</a:t>
            </a:r>
          </a:p>
        </p:txBody>
      </p:sp>
      <p:sp>
        <p:nvSpPr>
          <p:cNvPr id="3" name="Content Placeholder 2"/>
          <p:cNvSpPr>
            <a:spLocks noGrp="1"/>
          </p:cNvSpPr>
          <p:nvPr>
            <p:ph idx="1"/>
          </p:nvPr>
        </p:nvSpPr>
        <p:spPr/>
        <p:txBody>
          <a:bodyPr/>
          <a:lstStyle/>
          <a:p>
            <a:r>
              <a:rPr lang="en-US" dirty="0"/>
              <a:t>D3 is a short for Data-Driven Documents</a:t>
            </a:r>
          </a:p>
          <a:p>
            <a:r>
              <a:rPr lang="en-US" dirty="0"/>
              <a:t>It is a JavaScript Library created by Mike </a:t>
            </a:r>
            <a:r>
              <a:rPr lang="en-US" dirty="0" err="1"/>
              <a:t>Bostock</a:t>
            </a:r>
            <a:r>
              <a:rPr lang="en-US" dirty="0"/>
              <a:t>  available at: d3.js.org</a:t>
            </a:r>
          </a:p>
        </p:txBody>
      </p:sp>
    </p:spTree>
    <p:extLst>
      <p:ext uri="{BB962C8B-B14F-4D97-AF65-F5344CB8AC3E}">
        <p14:creationId xmlns:p14="http://schemas.microsoft.com/office/powerpoint/2010/main" val="3037427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 CSS</a:t>
            </a:r>
          </a:p>
        </p:txBody>
      </p:sp>
      <p:sp>
        <p:nvSpPr>
          <p:cNvPr id="3" name="Content Placeholder 2"/>
          <p:cNvSpPr>
            <a:spLocks noGrp="1"/>
          </p:cNvSpPr>
          <p:nvPr>
            <p:ph idx="1"/>
          </p:nvPr>
        </p:nvSpPr>
        <p:spPr/>
        <p:txBody>
          <a:bodyPr/>
          <a:lstStyle/>
          <a:p>
            <a:r>
              <a:rPr lang="en-US" dirty="0"/>
              <a:t>What is HTML?</a:t>
            </a:r>
          </a:p>
          <a:p>
            <a:endParaRPr lang="en-US" dirty="0"/>
          </a:p>
          <a:p>
            <a:r>
              <a:rPr lang="en-US" dirty="0"/>
              <a:t>What is CSS?</a:t>
            </a:r>
          </a:p>
        </p:txBody>
      </p:sp>
    </p:spTree>
    <p:extLst>
      <p:ext uri="{BB962C8B-B14F-4D97-AF65-F5344CB8AC3E}">
        <p14:creationId xmlns:p14="http://schemas.microsoft.com/office/powerpoint/2010/main" val="3909974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a:t>
            </a:r>
          </a:p>
        </p:txBody>
      </p:sp>
      <p:sp>
        <p:nvSpPr>
          <p:cNvPr id="3" name="Content Placeholder 2"/>
          <p:cNvSpPr>
            <a:spLocks noGrp="1"/>
          </p:cNvSpPr>
          <p:nvPr>
            <p:ph idx="1"/>
          </p:nvPr>
        </p:nvSpPr>
        <p:spPr/>
        <p:txBody>
          <a:bodyPr/>
          <a:lstStyle/>
          <a:p>
            <a:r>
              <a:rPr lang="en-US" dirty="0"/>
              <a:t>D3 is a JavaScript library</a:t>
            </a:r>
          </a:p>
          <a:p>
            <a:endParaRPr lang="en-US" dirty="0"/>
          </a:p>
          <a:p>
            <a:r>
              <a:rPr lang="en-US" dirty="0"/>
              <a:t>What is </a:t>
            </a:r>
            <a:r>
              <a:rPr lang="en-US" dirty="0" err="1"/>
              <a:t>javaScript</a:t>
            </a:r>
            <a:r>
              <a:rPr lang="en-US" dirty="0"/>
              <a:t>?</a:t>
            </a:r>
          </a:p>
          <a:p>
            <a:pPr lvl="1"/>
            <a:r>
              <a:rPr lang="en-US" dirty="0"/>
              <a:t>JavaScript is used in billions of Web pages to add functionality, validate forms, communicate with the server, and much more.</a:t>
            </a:r>
          </a:p>
          <a:p>
            <a:pPr lvl="1"/>
            <a:r>
              <a:rPr lang="en-US" dirty="0"/>
              <a:t>JavaScript is the most popular scripting language on the internet, and works in all major browsers</a:t>
            </a:r>
          </a:p>
        </p:txBody>
      </p:sp>
    </p:spTree>
    <p:extLst>
      <p:ext uri="{BB962C8B-B14F-4D97-AF65-F5344CB8AC3E}">
        <p14:creationId xmlns:p14="http://schemas.microsoft.com/office/powerpoint/2010/main" val="334001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a:t>
            </a:r>
          </a:p>
        </p:txBody>
      </p:sp>
      <p:sp>
        <p:nvSpPr>
          <p:cNvPr id="3" name="Content Placeholder 2"/>
          <p:cNvSpPr>
            <a:spLocks noGrp="1"/>
          </p:cNvSpPr>
          <p:nvPr>
            <p:ph idx="1"/>
          </p:nvPr>
        </p:nvSpPr>
        <p:spPr/>
        <p:txBody>
          <a:bodyPr>
            <a:normAutofit fontScale="85000" lnSpcReduction="20000"/>
          </a:bodyPr>
          <a:lstStyle/>
          <a:p>
            <a:r>
              <a:rPr lang="en-US" dirty="0"/>
              <a:t>Not Java!!</a:t>
            </a:r>
          </a:p>
          <a:p>
            <a:r>
              <a:rPr lang="en-US" dirty="0"/>
              <a:t>JavaScript was designed to add interactivity to HTML pages</a:t>
            </a:r>
          </a:p>
          <a:p>
            <a:r>
              <a:rPr lang="en-US" dirty="0"/>
              <a:t>JavaScript is a scripting language - a lightweight programming language.</a:t>
            </a:r>
          </a:p>
          <a:p>
            <a:r>
              <a:rPr lang="en-US" dirty="0"/>
              <a:t>JavaScript is usually embedded directly into HTML pages</a:t>
            </a:r>
          </a:p>
          <a:p>
            <a:r>
              <a:rPr lang="en-US" dirty="0"/>
              <a:t>JavaScript is an interpreted language (means that scripts execute without preliminary compilation)</a:t>
            </a:r>
          </a:p>
          <a:p>
            <a:r>
              <a:rPr lang="en-US" dirty="0"/>
              <a:t>Everyone can use JavaScript without purchasing a license</a:t>
            </a:r>
          </a:p>
        </p:txBody>
      </p:sp>
    </p:spTree>
    <p:extLst>
      <p:ext uri="{BB962C8B-B14F-4D97-AF65-F5344CB8AC3E}">
        <p14:creationId xmlns:p14="http://schemas.microsoft.com/office/powerpoint/2010/main" val="2927016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SVG</a:t>
            </a:r>
          </a:p>
        </p:txBody>
      </p:sp>
      <p:sp>
        <p:nvSpPr>
          <p:cNvPr id="3" name="Content Placeholder 2"/>
          <p:cNvSpPr>
            <a:spLocks noGrp="1"/>
          </p:cNvSpPr>
          <p:nvPr>
            <p:ph idx="1"/>
          </p:nvPr>
        </p:nvSpPr>
        <p:spPr/>
        <p:txBody>
          <a:bodyPr>
            <a:normAutofit fontScale="85000" lnSpcReduction="10000"/>
          </a:bodyPr>
          <a:lstStyle/>
          <a:p>
            <a:r>
              <a:rPr lang="en-US" dirty="0"/>
              <a:t>What is SVG?</a:t>
            </a:r>
          </a:p>
          <a:p>
            <a:pPr lvl="1"/>
            <a:r>
              <a:rPr lang="en-US" dirty="0"/>
              <a:t>Scalable Vector Graphics (SVG) is a graphics file format and Web development language based on XML. SVG enables Web developers and designers to create dynamically generated, high-quality graphics from real-time data with precise structural and visual control. It is an open standard.</a:t>
            </a:r>
          </a:p>
          <a:p>
            <a:r>
              <a:rPr lang="en-US" dirty="0"/>
              <a:t>Vectors</a:t>
            </a:r>
          </a:p>
          <a:p>
            <a:pPr lvl="1"/>
            <a:r>
              <a:rPr lang="en-US" dirty="0"/>
              <a:t>Vector graphics are created with paths having a start and end point, as well as points, curves and angles in between. Since Vector Graphics are not created out of pixels, they can be scaled up to larger or smaller sizes without losing image quality.</a:t>
            </a:r>
          </a:p>
          <a:p>
            <a:pPr lvl="1"/>
            <a:endParaRPr lang="en-US" dirty="0"/>
          </a:p>
        </p:txBody>
      </p:sp>
    </p:spTree>
    <p:extLst>
      <p:ext uri="{BB962C8B-B14F-4D97-AF65-F5344CB8AC3E}">
        <p14:creationId xmlns:p14="http://schemas.microsoft.com/office/powerpoint/2010/main" val="988338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SVG</a:t>
            </a:r>
          </a:p>
        </p:txBody>
      </p:sp>
      <p:sp>
        <p:nvSpPr>
          <p:cNvPr id="3" name="Content Placeholder 2"/>
          <p:cNvSpPr>
            <a:spLocks noGrp="1"/>
          </p:cNvSpPr>
          <p:nvPr>
            <p:ph idx="1"/>
          </p:nvPr>
        </p:nvSpPr>
        <p:spPr/>
        <p:txBody>
          <a:bodyPr>
            <a:normAutofit fontScale="77500" lnSpcReduction="20000"/>
          </a:bodyPr>
          <a:lstStyle/>
          <a:p>
            <a:r>
              <a:rPr lang="en-US" dirty="0"/>
              <a:t>SVG images and their behaviors are defined in XML text files. The XML text can be included in an HTML document. This text means that images can be created and edited in a text editor. Also, since the DOM includes XML as part of the DOM specification, we can use the DOM Tree to access and update the structure, content and style of SVG Images.</a:t>
            </a:r>
          </a:p>
          <a:p>
            <a:r>
              <a:rPr lang="en-US" dirty="0"/>
              <a:t>SVG comes with a basic set of shape elements:</a:t>
            </a:r>
          </a:p>
          <a:p>
            <a:pPr lvl="1"/>
            <a:r>
              <a:rPr lang="en-US" dirty="0"/>
              <a:t>Rectangle</a:t>
            </a:r>
          </a:p>
          <a:p>
            <a:pPr lvl="1"/>
            <a:r>
              <a:rPr lang="en-US" dirty="0"/>
              <a:t>Circle</a:t>
            </a:r>
          </a:p>
          <a:p>
            <a:pPr lvl="1"/>
            <a:r>
              <a:rPr lang="en-US" dirty="0"/>
              <a:t>Ellipse</a:t>
            </a:r>
          </a:p>
          <a:p>
            <a:pPr lvl="1"/>
            <a:r>
              <a:rPr lang="en-US" dirty="0"/>
              <a:t>Line</a:t>
            </a:r>
          </a:p>
          <a:p>
            <a:pPr lvl="1"/>
            <a:r>
              <a:rPr lang="en-US" dirty="0" err="1"/>
              <a:t>Ploygon</a:t>
            </a:r>
            <a:endParaRPr lang="en-US" dirty="0"/>
          </a:p>
          <a:p>
            <a:pPr lvl="1"/>
            <a:r>
              <a:rPr lang="en-US" dirty="0"/>
              <a:t>Etc.</a:t>
            </a:r>
          </a:p>
        </p:txBody>
      </p:sp>
    </p:spTree>
    <p:extLst>
      <p:ext uri="{BB962C8B-B14F-4D97-AF65-F5344CB8AC3E}">
        <p14:creationId xmlns:p14="http://schemas.microsoft.com/office/powerpoint/2010/main" val="4076164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SVG</a:t>
            </a:r>
          </a:p>
        </p:txBody>
      </p:sp>
      <p:sp>
        <p:nvSpPr>
          <p:cNvPr id="3" name="Content Placeholder 2"/>
          <p:cNvSpPr>
            <a:spLocks noGrp="1"/>
          </p:cNvSpPr>
          <p:nvPr>
            <p:ph idx="1"/>
          </p:nvPr>
        </p:nvSpPr>
        <p:spPr/>
        <p:txBody>
          <a:bodyPr/>
          <a:lstStyle/>
          <a:p>
            <a:pPr marL="0" indent="0">
              <a:buNone/>
            </a:pPr>
            <a:r>
              <a:rPr lang="en-US" dirty="0"/>
              <a:t>Rectangle Example &amp; Code:</a:t>
            </a:r>
          </a:p>
          <a:p>
            <a:pPr marL="0" indent="0">
              <a:buNone/>
            </a:pPr>
            <a:r>
              <a:rPr lang="en-GB" sz="2000" dirty="0"/>
              <a:t>&lt;</a:t>
            </a:r>
            <a:r>
              <a:rPr lang="en-GB" sz="2000" dirty="0" err="1"/>
              <a:t>svg</a:t>
            </a:r>
            <a:r>
              <a:rPr lang="en-GB" sz="2000" dirty="0"/>
              <a:t> width="50" height="50"&gt; </a:t>
            </a:r>
          </a:p>
          <a:p>
            <a:pPr marL="0" indent="0">
              <a:buNone/>
            </a:pPr>
            <a:r>
              <a:rPr lang="en-GB" sz="2000" dirty="0"/>
              <a:t>&lt;</a:t>
            </a:r>
            <a:r>
              <a:rPr lang="en-GB" sz="2000" dirty="0" err="1"/>
              <a:t>rect</a:t>
            </a:r>
            <a:r>
              <a:rPr lang="en-GB" sz="2000" dirty="0"/>
              <a:t> x="0" y="0" width="50" height="50" fill="green" /&gt;</a:t>
            </a:r>
          </a:p>
          <a:p>
            <a:pPr marL="0" indent="0">
              <a:buNone/>
            </a:pPr>
            <a:r>
              <a:rPr lang="en-GB" sz="2000" dirty="0"/>
              <a:t>&lt;/</a:t>
            </a:r>
            <a:r>
              <a:rPr lang="en-GB" sz="2000" dirty="0" err="1"/>
              <a:t>svg</a:t>
            </a:r>
            <a:r>
              <a:rPr lang="en-GB" sz="2000" dirty="0"/>
              <a:t>&gt;</a:t>
            </a:r>
            <a:endParaRPr lang="en-US" sz="2000" dirty="0"/>
          </a:p>
          <a:p>
            <a:pPr marL="0" indent="0">
              <a:buNone/>
            </a:pPr>
            <a:r>
              <a:rPr lang="en-US" dirty="0"/>
              <a:t>Circle example and code:</a:t>
            </a:r>
          </a:p>
          <a:p>
            <a:pPr marL="0" indent="0">
              <a:buNone/>
            </a:pPr>
            <a:r>
              <a:rPr lang="en-US" sz="2000" dirty="0"/>
              <a:t>&lt;</a:t>
            </a:r>
            <a:r>
              <a:rPr lang="en-US" sz="2000" dirty="0" err="1"/>
              <a:t>svg</a:t>
            </a:r>
            <a:r>
              <a:rPr lang="en-US" sz="2000" dirty="0"/>
              <a:t> width="50" height="50"&gt; </a:t>
            </a:r>
          </a:p>
          <a:p>
            <a:pPr marL="0" indent="0">
              <a:buNone/>
            </a:pPr>
            <a:r>
              <a:rPr lang="en-US" sz="2000" dirty="0"/>
              <a:t>&lt;circle cx="25" cy="25" r="25" fill="purple" /&gt; </a:t>
            </a:r>
          </a:p>
          <a:p>
            <a:pPr marL="0" indent="0">
              <a:buNone/>
            </a:pPr>
            <a:r>
              <a:rPr lang="en-US" sz="2000" dirty="0"/>
              <a:t>&lt;/</a:t>
            </a:r>
            <a:r>
              <a:rPr lang="en-US" sz="2000" dirty="0" err="1"/>
              <a:t>svg</a:t>
            </a:r>
            <a:r>
              <a:rPr lang="en-US" sz="2000" dirty="0"/>
              <a:t>&gt;</a:t>
            </a:r>
          </a:p>
        </p:txBody>
      </p:sp>
      <p:sp>
        <p:nvSpPr>
          <p:cNvPr id="4" name="Rectangle 3"/>
          <p:cNvSpPr/>
          <p:nvPr/>
        </p:nvSpPr>
        <p:spPr>
          <a:xfrm>
            <a:off x="7308304" y="2204864"/>
            <a:ext cx="864096" cy="7200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 name="Oval 4"/>
          <p:cNvSpPr/>
          <p:nvPr/>
        </p:nvSpPr>
        <p:spPr>
          <a:xfrm>
            <a:off x="7392563" y="4221088"/>
            <a:ext cx="635821" cy="64807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7081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DOM</a:t>
            </a:r>
          </a:p>
        </p:txBody>
      </p:sp>
      <p:sp>
        <p:nvSpPr>
          <p:cNvPr id="3" name="Content Placeholder 2"/>
          <p:cNvSpPr>
            <a:spLocks noGrp="1"/>
          </p:cNvSpPr>
          <p:nvPr>
            <p:ph idx="1"/>
          </p:nvPr>
        </p:nvSpPr>
        <p:spPr>
          <a:xfrm>
            <a:off x="457200" y="1600200"/>
            <a:ext cx="8229600" cy="3239641"/>
          </a:xfrm>
        </p:spPr>
        <p:txBody>
          <a:bodyPr/>
          <a:lstStyle/>
          <a:p>
            <a:r>
              <a:rPr lang="en-US" dirty="0"/>
              <a:t>The HTML DOM defines a standard way for accessing and manipulating HTML documents.</a:t>
            </a:r>
          </a:p>
          <a:p>
            <a:r>
              <a:rPr lang="en-US" b="1" dirty="0"/>
              <a:t>The HTML DOM is a standard for how to get, change, add, or delete HTML elements.</a:t>
            </a:r>
            <a:endParaRPr lang="en-US" dirty="0"/>
          </a:p>
          <a:p>
            <a:r>
              <a:rPr lang="en-US" dirty="0"/>
              <a:t>The DOM presents an HTML document as a tree-structure.</a:t>
            </a:r>
          </a:p>
          <a:p>
            <a:endParaRPr lang="en-US" dirty="0"/>
          </a:p>
        </p:txBody>
      </p:sp>
      <p:pic>
        <p:nvPicPr>
          <p:cNvPr id="1026" name="Picture 2" descr="DOM HTML 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4292580"/>
            <a:ext cx="4629150"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9704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Getting Started</a:t>
            </a:r>
          </a:p>
        </p:txBody>
      </p:sp>
      <p:sp>
        <p:nvSpPr>
          <p:cNvPr id="3" name="Content Placeholder 2"/>
          <p:cNvSpPr>
            <a:spLocks noGrp="1"/>
          </p:cNvSpPr>
          <p:nvPr>
            <p:ph idx="1"/>
          </p:nvPr>
        </p:nvSpPr>
        <p:spPr/>
        <p:txBody>
          <a:bodyPr/>
          <a:lstStyle/>
          <a:p>
            <a:pPr marL="0" indent="0">
              <a:buNone/>
            </a:pPr>
            <a:r>
              <a:rPr lang="en-US" dirty="0"/>
              <a:t>Lets go over the basic concepts using  the given tutorial</a:t>
            </a:r>
          </a:p>
          <a:p>
            <a:pPr marL="0" indent="0">
              <a:buNone/>
            </a:pPr>
            <a:endParaRPr lang="en-US" dirty="0"/>
          </a:p>
          <a:p>
            <a:pPr marL="0" indent="0">
              <a:buNone/>
            </a:pPr>
            <a:endParaRPr lang="en-US" dirty="0"/>
          </a:p>
          <a:p>
            <a:pPr marL="0" indent="0">
              <a:buNone/>
            </a:pPr>
            <a:endParaRPr lang="en-US" dirty="0"/>
          </a:p>
          <a:p>
            <a:pPr marL="0" indent="0">
              <a:buNone/>
            </a:pPr>
            <a:r>
              <a:rPr lang="en-US" dirty="0"/>
              <a:t>Next, are listed some important commands:</a:t>
            </a:r>
          </a:p>
        </p:txBody>
      </p:sp>
    </p:spTree>
    <p:extLst>
      <p:ext uri="{BB962C8B-B14F-4D97-AF65-F5344CB8AC3E}">
        <p14:creationId xmlns:p14="http://schemas.microsoft.com/office/powerpoint/2010/main" val="1914032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a:t>
            </a:r>
          </a:p>
        </p:txBody>
      </p:sp>
      <p:sp>
        <p:nvSpPr>
          <p:cNvPr id="3" name="Content Placeholder 2"/>
          <p:cNvSpPr>
            <a:spLocks noGrp="1"/>
          </p:cNvSpPr>
          <p:nvPr>
            <p:ph idx="1"/>
          </p:nvPr>
        </p:nvSpPr>
        <p:spPr/>
        <p:txBody>
          <a:bodyPr>
            <a:normAutofit fontScale="92500" lnSpcReduction="10000"/>
          </a:bodyPr>
          <a:lstStyle/>
          <a:p>
            <a:r>
              <a:rPr lang="en-US" dirty="0"/>
              <a:t>Selections – selects an element/s</a:t>
            </a:r>
          </a:p>
          <a:p>
            <a:pPr marL="0" indent="0">
              <a:buNone/>
            </a:pPr>
            <a:r>
              <a:rPr lang="en-US" dirty="0"/>
              <a:t>d3.select("body")</a:t>
            </a:r>
          </a:p>
          <a:p>
            <a:pPr marL="0" indent="0">
              <a:buNone/>
            </a:pPr>
            <a:endParaRPr lang="en-US" dirty="0"/>
          </a:p>
          <a:p>
            <a:pPr marL="0" indent="0">
              <a:buNone/>
            </a:pPr>
            <a:r>
              <a:rPr lang="en-US" dirty="0"/>
              <a:t>D3 looks at the document and selects the first descendant DOM element that contains the tag </a:t>
            </a:r>
            <a:r>
              <a:rPr lang="en-US" b="1" dirty="0"/>
              <a:t>body</a:t>
            </a:r>
            <a:r>
              <a:rPr lang="en-US" dirty="0"/>
              <a:t>.</a:t>
            </a:r>
          </a:p>
          <a:p>
            <a:pPr marL="0" indent="0">
              <a:buNone/>
            </a:pPr>
            <a:endParaRPr lang="en-US" dirty="0"/>
          </a:p>
          <a:p>
            <a:pPr marL="0" indent="0">
              <a:buNone/>
            </a:pPr>
            <a:r>
              <a:rPr lang="en-US" dirty="0"/>
              <a:t>Once an element is selected, D3.js allows you to apply </a:t>
            </a:r>
            <a:r>
              <a:rPr lang="en-US" b="1" dirty="0"/>
              <a:t>operators</a:t>
            </a:r>
            <a:r>
              <a:rPr lang="en-US" dirty="0"/>
              <a:t> to the element you have selected.</a:t>
            </a:r>
          </a:p>
        </p:txBody>
      </p:sp>
    </p:spTree>
    <p:extLst>
      <p:ext uri="{BB962C8B-B14F-4D97-AF65-F5344CB8AC3E}">
        <p14:creationId xmlns:p14="http://schemas.microsoft.com/office/powerpoint/2010/main" val="2930220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a:t>
            </a:r>
          </a:p>
        </p:txBody>
      </p:sp>
      <p:sp>
        <p:nvSpPr>
          <p:cNvPr id="3" name="Content Placeholder 2"/>
          <p:cNvSpPr>
            <a:spLocks noGrp="1"/>
          </p:cNvSpPr>
          <p:nvPr>
            <p:ph idx="1"/>
          </p:nvPr>
        </p:nvSpPr>
        <p:spPr/>
        <p:txBody>
          <a:bodyPr/>
          <a:lstStyle/>
          <a:p>
            <a:pPr marL="0" indent="0">
              <a:buNone/>
            </a:pPr>
            <a:r>
              <a:rPr lang="en-US" dirty="0"/>
              <a:t>d3.select()</a:t>
            </a:r>
          </a:p>
          <a:p>
            <a:pPr marL="0" indent="0">
              <a:buNone/>
            </a:pPr>
            <a:r>
              <a:rPr lang="en-US" dirty="0"/>
              <a:t>d3.select(</a:t>
            </a:r>
            <a:r>
              <a:rPr lang="he-IL" dirty="0"/>
              <a:t>״</a:t>
            </a:r>
            <a:r>
              <a:rPr lang="en-US" dirty="0"/>
              <a:t>body</a:t>
            </a:r>
            <a:r>
              <a:rPr lang="he-IL" dirty="0"/>
              <a:t>״</a:t>
            </a:r>
            <a:r>
              <a:rPr lang="en-US" dirty="0"/>
              <a:t>)</a:t>
            </a:r>
          </a:p>
          <a:p>
            <a:pPr marL="0" indent="0">
              <a:buNone/>
            </a:pPr>
            <a:r>
              <a:rPr lang="en-US" dirty="0"/>
              <a:t>d3.selectAll(“p”).style(“color”, ”white”);</a:t>
            </a:r>
          </a:p>
          <a:p>
            <a:pPr marL="0" indent="0">
              <a:buNone/>
            </a:pPr>
            <a:endParaRPr lang="en-US" dirty="0"/>
          </a:p>
          <a:p>
            <a:endParaRPr lang="en-US" dirty="0"/>
          </a:p>
        </p:txBody>
      </p:sp>
    </p:spTree>
    <p:extLst>
      <p:ext uri="{BB962C8B-B14F-4D97-AF65-F5344CB8AC3E}">
        <p14:creationId xmlns:p14="http://schemas.microsoft.com/office/powerpoint/2010/main" val="510449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 operator</a:t>
            </a:r>
          </a:p>
        </p:txBody>
      </p:sp>
      <p:sp>
        <p:nvSpPr>
          <p:cNvPr id="3" name="Content Placeholder 2"/>
          <p:cNvSpPr>
            <a:spLocks noGrp="1"/>
          </p:cNvSpPr>
          <p:nvPr>
            <p:ph idx="1"/>
          </p:nvPr>
        </p:nvSpPr>
        <p:spPr/>
        <p:txBody>
          <a:bodyPr>
            <a:normAutofit lnSpcReduction="10000"/>
          </a:bodyPr>
          <a:lstStyle/>
          <a:p>
            <a:pPr marL="0" indent="0">
              <a:buNone/>
            </a:pPr>
            <a:r>
              <a:rPr lang="en-US" dirty="0"/>
              <a:t>d3.select("body").append("p");</a:t>
            </a:r>
          </a:p>
          <a:p>
            <a:pPr marL="0" indent="0">
              <a:buNone/>
            </a:pPr>
            <a:endParaRPr lang="en-US" dirty="0"/>
          </a:p>
          <a:p>
            <a:pPr marL="0" indent="0">
              <a:buNone/>
            </a:pPr>
            <a:r>
              <a:rPr lang="en-US" dirty="0"/>
              <a:t>The Append Operator </a:t>
            </a:r>
            <a:r>
              <a:rPr lang="en-US" b="1" dirty="0"/>
              <a:t>appends</a:t>
            </a:r>
            <a:r>
              <a:rPr lang="en-US" dirty="0"/>
              <a:t> a new element as the last child of the element in the current selection.</a:t>
            </a:r>
          </a:p>
          <a:p>
            <a:pPr marL="0" indent="0">
              <a:buNone/>
            </a:pPr>
            <a:endParaRPr lang="en-US" dirty="0"/>
          </a:p>
          <a:p>
            <a:pPr marL="0" indent="0">
              <a:buNone/>
            </a:pPr>
            <a:r>
              <a:rPr lang="en-US" dirty="0"/>
              <a:t>Since our current selection was </a:t>
            </a:r>
            <a:r>
              <a:rPr lang="en-US" b="1" dirty="0"/>
              <a:t>d3.select("body")</a:t>
            </a:r>
            <a:r>
              <a:rPr lang="en-US" dirty="0"/>
              <a:t>, the append operator added the "p" element last. </a:t>
            </a:r>
          </a:p>
        </p:txBody>
      </p:sp>
    </p:spTree>
    <p:extLst>
      <p:ext uri="{BB962C8B-B14F-4D97-AF65-F5344CB8AC3E}">
        <p14:creationId xmlns:p14="http://schemas.microsoft.com/office/powerpoint/2010/main" val="2789316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an SVG element</a:t>
            </a:r>
          </a:p>
        </p:txBody>
      </p:sp>
      <p:sp>
        <p:nvSpPr>
          <p:cNvPr id="3" name="Content Placeholder 2"/>
          <p:cNvSpPr>
            <a:spLocks noGrp="1"/>
          </p:cNvSpPr>
          <p:nvPr>
            <p:ph idx="1"/>
          </p:nvPr>
        </p:nvSpPr>
        <p:spPr/>
        <p:txBody>
          <a:bodyPr>
            <a:normAutofit/>
          </a:bodyPr>
          <a:lstStyle/>
          <a:p>
            <a:r>
              <a:rPr lang="en-US" sz="2400" dirty="0"/>
              <a:t>d3.select("body").</a:t>
            </a:r>
          </a:p>
          <a:p>
            <a:pPr marL="457200" lvl="1" indent="0">
              <a:buNone/>
            </a:pPr>
            <a:r>
              <a:rPr lang="en-US" sz="2000" dirty="0"/>
              <a:t>append("</a:t>
            </a:r>
            <a:r>
              <a:rPr lang="en-US" sz="2000" dirty="0" err="1"/>
              <a:t>svg</a:t>
            </a:r>
            <a:r>
              <a:rPr lang="en-US" sz="2000" dirty="0"/>
              <a:t>")</a:t>
            </a:r>
          </a:p>
          <a:p>
            <a:pPr marL="457200" lvl="1" indent="0">
              <a:buNone/>
            </a:pPr>
            <a:r>
              <a:rPr lang="en-US" sz="2000" dirty="0"/>
              <a:t>.</a:t>
            </a:r>
            <a:r>
              <a:rPr lang="en-US" sz="2000" dirty="0" err="1"/>
              <a:t>attr</a:t>
            </a:r>
            <a:r>
              <a:rPr lang="en-US" sz="2000" dirty="0"/>
              <a:t>("width", 50)</a:t>
            </a:r>
          </a:p>
          <a:p>
            <a:pPr marL="457200" lvl="1" indent="0">
              <a:buNone/>
            </a:pPr>
            <a:r>
              <a:rPr lang="en-US" sz="2000" dirty="0"/>
              <a:t>.</a:t>
            </a:r>
            <a:r>
              <a:rPr lang="en-US" sz="2000" dirty="0" err="1"/>
              <a:t>attr</a:t>
            </a:r>
            <a:r>
              <a:rPr lang="en-US" sz="2000" dirty="0"/>
              <a:t>("height",50)</a:t>
            </a:r>
          </a:p>
          <a:p>
            <a:pPr marL="457200" lvl="1" indent="0">
              <a:buNone/>
            </a:pPr>
            <a:r>
              <a:rPr lang="en-US" sz="2000" dirty="0"/>
              <a:t>.append("circle")</a:t>
            </a:r>
          </a:p>
          <a:p>
            <a:pPr marL="457200" lvl="1" indent="0">
              <a:buNone/>
            </a:pPr>
            <a:r>
              <a:rPr lang="en-US" sz="2000" dirty="0"/>
              <a:t>.</a:t>
            </a:r>
            <a:r>
              <a:rPr lang="en-US" sz="2000" dirty="0" err="1"/>
              <a:t>attr</a:t>
            </a:r>
            <a:r>
              <a:rPr lang="en-US" sz="2000" dirty="0"/>
              <a:t>("cx", 25)</a:t>
            </a:r>
          </a:p>
          <a:p>
            <a:pPr marL="457200" lvl="1" indent="0">
              <a:buNone/>
            </a:pPr>
            <a:r>
              <a:rPr lang="en-US" sz="2000" dirty="0"/>
              <a:t>.</a:t>
            </a:r>
            <a:r>
              <a:rPr lang="en-US" sz="2000" dirty="0" err="1"/>
              <a:t>attr</a:t>
            </a:r>
            <a:r>
              <a:rPr lang="en-US" sz="2000" dirty="0"/>
              <a:t>("cy", 25)</a:t>
            </a:r>
          </a:p>
          <a:p>
            <a:pPr marL="457200" lvl="1" indent="0">
              <a:buNone/>
            </a:pPr>
            <a:r>
              <a:rPr lang="en-US" sz="2000" dirty="0"/>
              <a:t>.</a:t>
            </a:r>
            <a:r>
              <a:rPr lang="en-US" sz="2000" dirty="0" err="1"/>
              <a:t>attr</a:t>
            </a:r>
            <a:r>
              <a:rPr lang="en-US" sz="2000" dirty="0"/>
              <a:t>("r", 25)</a:t>
            </a:r>
          </a:p>
          <a:p>
            <a:pPr marL="457200" lvl="1" indent="0">
              <a:buNone/>
            </a:pPr>
            <a:r>
              <a:rPr lang="en-US" sz="2000" dirty="0"/>
              <a:t>.style("fill", "purple");</a:t>
            </a:r>
          </a:p>
          <a:p>
            <a:pPr marL="457200" lvl="1" indent="0">
              <a:buNone/>
            </a:pPr>
            <a:endParaRPr lang="en-US" sz="2000" dirty="0"/>
          </a:p>
          <a:p>
            <a:pPr marL="457200" lvl="1" indent="0">
              <a:buNone/>
            </a:pPr>
            <a:endParaRPr lang="en-US" sz="2000" dirty="0"/>
          </a:p>
        </p:txBody>
      </p:sp>
    </p:spTree>
    <p:extLst>
      <p:ext uri="{BB962C8B-B14F-4D97-AF65-F5344CB8AC3E}">
        <p14:creationId xmlns:p14="http://schemas.microsoft.com/office/powerpoint/2010/main" val="3629281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a:t>
            </a:r>
            <a:r>
              <a:rPr lang="en-US" dirty="0" err="1"/>
              <a:t>attr</a:t>
            </a:r>
            <a:r>
              <a:rPr lang="en-US" dirty="0"/>
              <a:t> (name, value)</a:t>
            </a:r>
          </a:p>
          <a:p>
            <a:pPr marL="0" indent="0">
              <a:buNone/>
            </a:pPr>
            <a:r>
              <a:rPr lang="en-US" dirty="0"/>
              <a:t>Sets the attribute of a specified name with a specified value</a:t>
            </a:r>
          </a:p>
          <a:p>
            <a:pPr marL="0" indent="0">
              <a:buNone/>
            </a:pPr>
            <a:endParaRPr lang="en-US" dirty="0"/>
          </a:p>
          <a:p>
            <a:r>
              <a:rPr lang="en-US" dirty="0"/>
              <a:t>.style (name, value)</a:t>
            </a:r>
          </a:p>
          <a:p>
            <a:pPr marL="0" indent="0">
              <a:buNone/>
            </a:pPr>
            <a:r>
              <a:rPr lang="en-US" dirty="0"/>
              <a:t>sets the CSS style property for the given selection with the given specified value.</a:t>
            </a:r>
          </a:p>
        </p:txBody>
      </p:sp>
    </p:spTree>
    <p:extLst>
      <p:ext uri="{BB962C8B-B14F-4D97-AF65-F5344CB8AC3E}">
        <p14:creationId xmlns:p14="http://schemas.microsoft.com/office/powerpoint/2010/main" val="2638286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Binding data</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520954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Binding data</a:t>
            </a:r>
          </a:p>
        </p:txBody>
      </p:sp>
      <p:sp>
        <p:nvSpPr>
          <p:cNvPr id="3" name="Content Placeholder 2"/>
          <p:cNvSpPr>
            <a:spLocks noGrp="1"/>
          </p:cNvSpPr>
          <p:nvPr>
            <p:ph idx="1"/>
          </p:nvPr>
        </p:nvSpPr>
        <p:spPr>
          <a:xfrm>
            <a:off x="683568" y="1556792"/>
            <a:ext cx="8229600" cy="4525963"/>
          </a:xfrm>
        </p:spPr>
        <p:txBody>
          <a:bodyPr>
            <a:normAutofit/>
          </a:bodyPr>
          <a:lstStyle/>
          <a:p>
            <a:pPr marL="0" indent="0">
              <a:buNone/>
            </a:pPr>
            <a:r>
              <a:rPr lang="en-US" sz="2000" dirty="0" err="1"/>
              <a:t>var</a:t>
            </a:r>
            <a:r>
              <a:rPr lang="en-US" sz="2000" dirty="0"/>
              <a:t> dataset = [ 5, 10, 15, 20, 25 ];</a:t>
            </a:r>
          </a:p>
          <a:p>
            <a:pPr marL="0" indent="0">
              <a:buNone/>
            </a:pPr>
            <a:endParaRPr lang="en-US" dirty="0"/>
          </a:p>
          <a:p>
            <a:pPr marL="0" indent="0">
              <a:buNone/>
            </a:pPr>
            <a:r>
              <a:rPr lang="en-US" sz="2000" dirty="0" err="1"/>
              <a:t>var</a:t>
            </a:r>
            <a:r>
              <a:rPr lang="en-US" sz="2000" dirty="0"/>
              <a:t> p = d3.select("body")</a:t>
            </a:r>
          </a:p>
          <a:p>
            <a:pPr marL="0" indent="0">
              <a:buNone/>
            </a:pPr>
            <a:r>
              <a:rPr lang="en-US" sz="2000" dirty="0"/>
              <a:t>.</a:t>
            </a:r>
            <a:r>
              <a:rPr lang="en-US" sz="2000" dirty="0" err="1"/>
              <a:t>selectAll</a:t>
            </a:r>
            <a:r>
              <a:rPr lang="en-US" sz="2000" dirty="0"/>
              <a:t> ("p")</a:t>
            </a:r>
          </a:p>
          <a:p>
            <a:pPr marL="0" indent="0">
              <a:buNone/>
            </a:pPr>
            <a:r>
              <a:rPr lang="en-US" sz="2000" dirty="0"/>
              <a:t>.data(dataset )</a:t>
            </a:r>
          </a:p>
          <a:p>
            <a:pPr marL="0" indent="0">
              <a:buNone/>
            </a:pPr>
            <a:r>
              <a:rPr lang="en-US" sz="2000" dirty="0"/>
              <a:t>.enter()</a:t>
            </a:r>
          </a:p>
          <a:p>
            <a:pPr marL="0" indent="0">
              <a:buNone/>
            </a:pPr>
            <a:r>
              <a:rPr lang="en-US" sz="2000" dirty="0"/>
              <a:t>.append("p")</a:t>
            </a:r>
          </a:p>
          <a:p>
            <a:pPr marL="0" indent="0">
              <a:buNone/>
            </a:pPr>
            <a:r>
              <a:rPr lang="en-US" sz="2000" dirty="0"/>
              <a:t>.text("hello ");</a:t>
            </a:r>
          </a:p>
        </p:txBody>
      </p:sp>
    </p:spTree>
    <p:extLst>
      <p:ext uri="{BB962C8B-B14F-4D97-AF65-F5344CB8AC3E}">
        <p14:creationId xmlns:p14="http://schemas.microsoft.com/office/powerpoint/2010/main" val="2195439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selectall</a:t>
            </a:r>
            <a:endParaRPr lang="en-US" dirty="0"/>
          </a:p>
        </p:txBody>
      </p:sp>
      <p:sp>
        <p:nvSpPr>
          <p:cNvPr id="3" name="Content Placeholder 2"/>
          <p:cNvSpPr>
            <a:spLocks noGrp="1"/>
          </p:cNvSpPr>
          <p:nvPr>
            <p:ph idx="1"/>
          </p:nvPr>
        </p:nvSpPr>
        <p:spPr/>
        <p:txBody>
          <a:bodyPr>
            <a:normAutofit lnSpcReduction="10000"/>
          </a:bodyPr>
          <a:lstStyle/>
          <a:p>
            <a:r>
              <a:rPr lang="en-US" dirty="0" err="1"/>
              <a:t>Selectall</a:t>
            </a:r>
            <a:endParaRPr lang="en-US" dirty="0"/>
          </a:p>
          <a:p>
            <a:pPr marL="0" indent="0">
              <a:buNone/>
            </a:pPr>
            <a:r>
              <a:rPr lang="en-US" dirty="0"/>
              <a:t>Unlike the Select method (where the first element is selected), the </a:t>
            </a:r>
            <a:r>
              <a:rPr lang="en-US" dirty="0" err="1"/>
              <a:t>SelectAll</a:t>
            </a:r>
            <a:r>
              <a:rPr lang="en-US" dirty="0"/>
              <a:t> method selects all the elements that match the specific selector string.</a:t>
            </a:r>
          </a:p>
          <a:p>
            <a:pPr marL="0" indent="0">
              <a:buNone/>
            </a:pPr>
            <a:endParaRPr lang="en-US" dirty="0"/>
          </a:p>
          <a:p>
            <a:pPr marL="0" indent="0">
              <a:buNone/>
            </a:pPr>
            <a:r>
              <a:rPr lang="en-US" dirty="0"/>
              <a:t>What it is doing is selecting all of the &lt;p&gt; available on the page. Which in this case is none. So it returns an empty selection.</a:t>
            </a:r>
          </a:p>
        </p:txBody>
      </p:sp>
    </p:spTree>
    <p:extLst>
      <p:ext uri="{BB962C8B-B14F-4D97-AF65-F5344CB8AC3E}">
        <p14:creationId xmlns:p14="http://schemas.microsoft.com/office/powerpoint/2010/main" val="3180010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    .data(</a:t>
            </a:r>
            <a:r>
              <a:rPr lang="en-US" dirty="0" err="1"/>
              <a:t>theData</a:t>
            </a:r>
            <a:r>
              <a:rPr lang="en-US" dirty="0"/>
              <a:t>)</a:t>
            </a:r>
          </a:p>
          <a:p>
            <a:endParaRPr lang="en-US" dirty="0"/>
          </a:p>
          <a:p>
            <a:pPr marL="0" indent="0">
              <a:buNone/>
            </a:pPr>
            <a:r>
              <a:rPr lang="en-US" dirty="0"/>
              <a:t>The data operator joins an array of data (which can be numbers, objects or other arrays) with the current selection.</a:t>
            </a:r>
          </a:p>
          <a:p>
            <a:pPr marL="0" indent="0">
              <a:buNone/>
            </a:pPr>
            <a:endParaRPr lang="en-US" dirty="0"/>
          </a:p>
          <a:p>
            <a:pPr marL="0" indent="0">
              <a:buNone/>
            </a:pPr>
            <a:r>
              <a:rPr lang="en-US" dirty="0"/>
              <a:t>each element of </a:t>
            </a:r>
            <a:r>
              <a:rPr lang="en-US" b="1" dirty="0" err="1"/>
              <a:t>theData</a:t>
            </a:r>
            <a:r>
              <a:rPr lang="en-US" dirty="0"/>
              <a:t> array of data is assigned to each element of the current selection. The first element </a:t>
            </a:r>
            <a:r>
              <a:rPr lang="en-US" b="1" dirty="0"/>
              <a:t>1</a:t>
            </a:r>
            <a:r>
              <a:rPr lang="en-US" dirty="0"/>
              <a:t> is assigned to the first </a:t>
            </a:r>
            <a:r>
              <a:rPr lang="en-US" b="1" dirty="0"/>
              <a:t>&lt;p&gt;</a:t>
            </a:r>
            <a:r>
              <a:rPr lang="en-US" dirty="0"/>
              <a:t> element, the second to the second, so on and so forth.</a:t>
            </a:r>
          </a:p>
          <a:p>
            <a:pPr marL="0" indent="0">
              <a:buNone/>
            </a:pPr>
            <a:endParaRPr lang="en-US" dirty="0"/>
          </a:p>
          <a:p>
            <a:pPr marL="0" indent="0">
              <a:buNone/>
            </a:pPr>
            <a:r>
              <a:rPr lang="en-US" i="1" dirty="0"/>
              <a:t>But wait!</a:t>
            </a:r>
            <a:r>
              <a:rPr lang="en-US" dirty="0"/>
              <a:t> The basic page doesn't contain any </a:t>
            </a:r>
            <a:r>
              <a:rPr lang="en-US" b="1" dirty="0"/>
              <a:t>&lt;p&gt;</a:t>
            </a:r>
            <a:r>
              <a:rPr lang="en-US" dirty="0"/>
              <a:t> yet. What is it actually doing?</a:t>
            </a:r>
          </a:p>
        </p:txBody>
      </p:sp>
    </p:spTree>
    <p:extLst>
      <p:ext uri="{BB962C8B-B14F-4D97-AF65-F5344CB8AC3E}">
        <p14:creationId xmlns:p14="http://schemas.microsoft.com/office/powerpoint/2010/main" val="3475025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.enter</a:t>
            </a:r>
          </a:p>
        </p:txBody>
      </p:sp>
      <p:sp>
        <p:nvSpPr>
          <p:cNvPr id="3" name="Content Placeholder 2"/>
          <p:cNvSpPr>
            <a:spLocks noGrp="1"/>
          </p:cNvSpPr>
          <p:nvPr>
            <p:ph idx="1"/>
          </p:nvPr>
        </p:nvSpPr>
        <p:spPr/>
        <p:txBody>
          <a:bodyPr>
            <a:normAutofit fontScale="70000" lnSpcReduction="20000"/>
          </a:bodyPr>
          <a:lstStyle/>
          <a:p>
            <a:pPr marL="0" indent="0">
              <a:buNone/>
            </a:pPr>
            <a:r>
              <a:rPr lang="en-US" dirty="0"/>
              <a:t>The D3.js Data Operator returns </a:t>
            </a:r>
            <a:r>
              <a:rPr lang="en-US" i="1" dirty="0"/>
              <a:t>three</a:t>
            </a:r>
            <a:r>
              <a:rPr lang="en-US" dirty="0"/>
              <a:t> virtual selections.</a:t>
            </a:r>
          </a:p>
          <a:p>
            <a:pPr marL="0" indent="0">
              <a:buNone/>
            </a:pPr>
            <a:endParaRPr lang="en-US" dirty="0"/>
          </a:p>
          <a:p>
            <a:pPr marL="0" indent="0">
              <a:buNone/>
            </a:pPr>
            <a:r>
              <a:rPr lang="en-US" dirty="0"/>
              <a:t>The three virtual selections are </a:t>
            </a:r>
            <a:r>
              <a:rPr lang="en-US" i="1" dirty="0"/>
              <a:t>enter</a:t>
            </a:r>
            <a:r>
              <a:rPr lang="en-US" dirty="0"/>
              <a:t>, </a:t>
            </a:r>
            <a:r>
              <a:rPr lang="en-US" i="1" dirty="0"/>
              <a:t>update</a:t>
            </a:r>
            <a:r>
              <a:rPr lang="en-US" dirty="0"/>
              <a:t> and </a:t>
            </a:r>
            <a:r>
              <a:rPr lang="en-US" i="1" dirty="0"/>
              <a:t>exit</a:t>
            </a:r>
            <a:r>
              <a:rPr lang="en-US" dirty="0"/>
              <a:t>.</a:t>
            </a:r>
          </a:p>
          <a:p>
            <a:r>
              <a:rPr lang="en-US" dirty="0"/>
              <a:t>The </a:t>
            </a:r>
            <a:r>
              <a:rPr lang="en-US" b="1" i="1" dirty="0"/>
              <a:t>enter</a:t>
            </a:r>
            <a:r>
              <a:rPr lang="en-US" dirty="0"/>
              <a:t> selection contains placeholders for any missing elements.</a:t>
            </a:r>
          </a:p>
          <a:p>
            <a:r>
              <a:rPr lang="en-US" dirty="0"/>
              <a:t>The </a:t>
            </a:r>
            <a:r>
              <a:rPr lang="en-US" b="1" i="1" dirty="0"/>
              <a:t>update</a:t>
            </a:r>
            <a:r>
              <a:rPr lang="en-US" dirty="0"/>
              <a:t> selection contains existing elements, bound to data.</a:t>
            </a:r>
          </a:p>
          <a:p>
            <a:r>
              <a:rPr lang="en-US" dirty="0"/>
              <a:t>Any remaining elements end up in the </a:t>
            </a:r>
            <a:r>
              <a:rPr lang="en-US" b="1" i="1" dirty="0"/>
              <a:t>exit</a:t>
            </a:r>
            <a:r>
              <a:rPr lang="en-US" dirty="0"/>
              <a:t> selection for removal.</a:t>
            </a:r>
          </a:p>
          <a:p>
            <a:pPr marL="0" indent="0">
              <a:buNone/>
            </a:pPr>
            <a:endParaRPr lang="en-US" dirty="0"/>
          </a:p>
          <a:p>
            <a:pPr marL="0" indent="0">
              <a:buNone/>
            </a:pPr>
            <a:r>
              <a:rPr lang="en-US" dirty="0"/>
              <a:t>Since our selection from</a:t>
            </a:r>
          </a:p>
          <a:p>
            <a:pPr marL="0" indent="0">
              <a:buNone/>
            </a:pPr>
            <a:r>
              <a:rPr lang="en-US" sz="2600" dirty="0"/>
              <a:t>d3.select("body").</a:t>
            </a:r>
            <a:r>
              <a:rPr lang="en-US" sz="2600" dirty="0" err="1"/>
              <a:t>selectAll</a:t>
            </a:r>
            <a:r>
              <a:rPr lang="en-US" sz="2600" dirty="0"/>
              <a:t>("p")</a:t>
            </a:r>
          </a:p>
          <a:p>
            <a:pPr marL="0" indent="0">
              <a:buNone/>
            </a:pPr>
            <a:endParaRPr lang="en-US" sz="2600" dirty="0"/>
          </a:p>
          <a:p>
            <a:pPr marL="0" indent="0">
              <a:buNone/>
            </a:pPr>
            <a:r>
              <a:rPr lang="en-US" sz="2600" dirty="0"/>
              <a:t>Was empty the virtual enter selection now contains placeholders for our &lt;p&gt; elements</a:t>
            </a:r>
          </a:p>
        </p:txBody>
      </p:sp>
    </p:spTree>
    <p:extLst>
      <p:ext uri="{BB962C8B-B14F-4D97-AF65-F5344CB8AC3E}">
        <p14:creationId xmlns:p14="http://schemas.microsoft.com/office/powerpoint/2010/main" val="1419411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.enter</a:t>
            </a:r>
          </a:p>
        </p:txBody>
      </p:sp>
      <p:sp>
        <p:nvSpPr>
          <p:cNvPr id="3" name="Content Placeholder 2"/>
          <p:cNvSpPr>
            <a:spLocks noGrp="1"/>
          </p:cNvSpPr>
          <p:nvPr>
            <p:ph idx="1"/>
          </p:nvPr>
        </p:nvSpPr>
        <p:spPr/>
        <p:txBody>
          <a:bodyPr>
            <a:normAutofit fontScale="92500" lnSpcReduction="10000"/>
          </a:bodyPr>
          <a:lstStyle/>
          <a:p>
            <a:r>
              <a:rPr lang="en-US" dirty="0"/>
              <a:t>The D3.js Enter Method returns the </a:t>
            </a:r>
            <a:r>
              <a:rPr lang="en-US" b="1" dirty="0"/>
              <a:t>virtual enter selection</a:t>
            </a:r>
            <a:r>
              <a:rPr lang="en-US" dirty="0"/>
              <a:t> from the Data Operator. This method only works on the Data Operator</a:t>
            </a:r>
          </a:p>
          <a:p>
            <a:endParaRPr lang="en-US" dirty="0"/>
          </a:p>
          <a:p>
            <a:pPr marL="0" indent="0">
              <a:buNone/>
            </a:pPr>
            <a:r>
              <a:rPr lang="en-US" sz="2400" dirty="0" err="1"/>
              <a:t>var</a:t>
            </a:r>
            <a:r>
              <a:rPr lang="en-US" sz="2400" dirty="0"/>
              <a:t> p = d3.select("body").</a:t>
            </a:r>
            <a:r>
              <a:rPr lang="en-US" sz="2400" dirty="0" err="1"/>
              <a:t>selectAll</a:t>
            </a:r>
            <a:r>
              <a:rPr lang="en-US" sz="2400" dirty="0"/>
              <a:t>("p").data(</a:t>
            </a:r>
            <a:r>
              <a:rPr lang="en-US" sz="2400" dirty="0" err="1"/>
              <a:t>theData</a:t>
            </a:r>
            <a:r>
              <a:rPr lang="en-US" sz="2400" dirty="0"/>
              <a:t>).enter()</a:t>
            </a:r>
          </a:p>
          <a:p>
            <a:pPr marL="0" indent="0">
              <a:buNone/>
            </a:pPr>
            <a:endParaRPr lang="en-US" sz="2400" dirty="0"/>
          </a:p>
          <a:p>
            <a:pPr marL="0" indent="0">
              <a:buNone/>
            </a:pPr>
            <a:r>
              <a:rPr lang="en-US" sz="2400" dirty="0"/>
              <a:t>This will return a reference to the placeholder elements (nodes) for each data element that did not have a corresponding existing DOM Element.</a:t>
            </a:r>
          </a:p>
          <a:p>
            <a:pPr marL="0" indent="0">
              <a:buNone/>
            </a:pPr>
            <a:endParaRPr lang="en-US" sz="2400" dirty="0"/>
          </a:p>
          <a:p>
            <a:pPr marL="0" indent="0">
              <a:buNone/>
            </a:pPr>
            <a:r>
              <a:rPr lang="en-US" sz="2400" dirty="0"/>
              <a:t>Once we have this reference we can then operate on this selection.</a:t>
            </a:r>
          </a:p>
        </p:txBody>
      </p:sp>
    </p:spTree>
    <p:extLst>
      <p:ext uri="{BB962C8B-B14F-4D97-AF65-F5344CB8AC3E}">
        <p14:creationId xmlns:p14="http://schemas.microsoft.com/office/powerpoint/2010/main" val="1140698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dirty="0"/>
              <a:t>When data is assigned to an element, it is stored in the property __data__.</a:t>
            </a:r>
          </a:p>
          <a:p>
            <a:pPr marL="0" indent="0">
              <a:buNone/>
            </a:pPr>
            <a:endParaRPr lang="en-US" b="1" dirty="0"/>
          </a:p>
          <a:p>
            <a:pPr marL="0" indent="0">
              <a:buNone/>
            </a:pPr>
            <a:r>
              <a:rPr lang="en-US" dirty="0"/>
              <a:t>you can see this using the console:</a:t>
            </a:r>
          </a:p>
          <a:p>
            <a:pPr marL="0" indent="0">
              <a:buNone/>
            </a:pPr>
            <a:r>
              <a:rPr lang="en-US" sz="2600" dirty="0"/>
              <a:t>console.log(d3.select("body"));</a:t>
            </a:r>
          </a:p>
          <a:p>
            <a:pPr marL="0" indent="0">
              <a:buNone/>
            </a:pPr>
            <a:endParaRPr lang="en-US" dirty="0"/>
          </a:p>
          <a:p>
            <a:pPr marL="0" indent="0">
              <a:buNone/>
            </a:pPr>
            <a:r>
              <a:rPr lang="en-US" sz="2600" b="1" dirty="0" err="1"/>
              <a:t>var</a:t>
            </a:r>
            <a:r>
              <a:rPr lang="en-US" sz="2600" dirty="0"/>
              <a:t> p = d3.select("body")</a:t>
            </a:r>
          </a:p>
          <a:p>
            <a:pPr marL="0" indent="0">
              <a:buNone/>
            </a:pPr>
            <a:r>
              <a:rPr lang="en-US" sz="2600" dirty="0"/>
              <a:t>	.</a:t>
            </a:r>
            <a:r>
              <a:rPr lang="en-US" sz="2600" dirty="0" err="1"/>
              <a:t>selectAll</a:t>
            </a:r>
            <a:r>
              <a:rPr lang="en-US" sz="2600" dirty="0"/>
              <a:t>("p")</a:t>
            </a:r>
          </a:p>
          <a:p>
            <a:pPr marL="0" indent="0">
              <a:buNone/>
            </a:pPr>
            <a:r>
              <a:rPr lang="en-US" sz="2600" dirty="0"/>
              <a:t>	.data(</a:t>
            </a:r>
            <a:r>
              <a:rPr lang="en-US" sz="2600" dirty="0" err="1"/>
              <a:t>theData</a:t>
            </a:r>
            <a:r>
              <a:rPr lang="en-US" sz="2600" dirty="0"/>
              <a:t>)</a:t>
            </a:r>
          </a:p>
          <a:p>
            <a:pPr marL="0" indent="0">
              <a:buNone/>
            </a:pPr>
            <a:r>
              <a:rPr lang="en-US" sz="2600" dirty="0"/>
              <a:t>	.enter()</a:t>
            </a:r>
          </a:p>
          <a:p>
            <a:pPr marL="0" indent="0">
              <a:buNone/>
            </a:pPr>
            <a:r>
              <a:rPr lang="en-US" sz="2600" dirty="0"/>
              <a:t>	.append("p")</a:t>
            </a:r>
          </a:p>
          <a:p>
            <a:pPr marL="0" indent="0">
              <a:buNone/>
            </a:pPr>
            <a:r>
              <a:rPr lang="en-US" sz="2600" dirty="0"/>
              <a:t>	.text("hello ");</a:t>
            </a:r>
          </a:p>
        </p:txBody>
      </p:sp>
    </p:spTree>
    <p:extLst>
      <p:ext uri="{BB962C8B-B14F-4D97-AF65-F5344CB8AC3E}">
        <p14:creationId xmlns:p14="http://schemas.microsoft.com/office/powerpoint/2010/main" val="507867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Using data that is bound to DOM elements</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Now instead of the last line, lets put:</a:t>
            </a:r>
          </a:p>
          <a:p>
            <a:pPr marL="0" indent="0">
              <a:buNone/>
            </a:pPr>
            <a:r>
              <a:rPr lang="en-US" sz="2400" dirty="0"/>
              <a:t>.text( </a:t>
            </a:r>
            <a:r>
              <a:rPr lang="en-US" sz="2400" b="1" dirty="0"/>
              <a:t>function</a:t>
            </a:r>
            <a:r>
              <a:rPr lang="en-US" sz="2400" dirty="0"/>
              <a:t> (d) { </a:t>
            </a:r>
            <a:r>
              <a:rPr lang="en-US" sz="2400" b="1" dirty="0"/>
              <a:t>return</a:t>
            </a:r>
            <a:r>
              <a:rPr lang="en-US" sz="2400" dirty="0"/>
              <a:t> d; } );</a:t>
            </a:r>
          </a:p>
          <a:p>
            <a:pPr marL="0" indent="0">
              <a:buNone/>
            </a:pPr>
            <a:endParaRPr lang="en-US" sz="2400" dirty="0"/>
          </a:p>
          <a:p>
            <a:pPr marL="0" indent="0">
              <a:buNone/>
            </a:pPr>
            <a:r>
              <a:rPr lang="en-US" sz="2400" dirty="0"/>
              <a:t>The selection for the .text is five &lt;p&gt; elements. </a:t>
            </a:r>
          </a:p>
          <a:p>
            <a:pPr marL="0" indent="0">
              <a:buNone/>
            </a:pPr>
            <a:endParaRPr lang="en-US" sz="2400" dirty="0"/>
          </a:p>
          <a:p>
            <a:pPr marL="0" indent="0">
              <a:buNone/>
            </a:pPr>
            <a:r>
              <a:rPr lang="en-US" sz="2400" dirty="0"/>
              <a:t>If the value passed to the Text Operator is a function, then the function is evaluated for each element in order. </a:t>
            </a:r>
            <a:r>
              <a:rPr lang="en-US" sz="2400" b="1" dirty="0"/>
              <a:t>And</a:t>
            </a:r>
            <a:r>
              <a:rPr lang="en-US" sz="2400" dirty="0"/>
              <a:t> the functions result is used to set each element's text context.</a:t>
            </a:r>
          </a:p>
          <a:p>
            <a:pPr marL="0" indent="0">
              <a:buNone/>
            </a:pPr>
            <a:endParaRPr lang="en-US" sz="2400" dirty="0"/>
          </a:p>
          <a:p>
            <a:pPr marL="0" indent="0">
              <a:buNone/>
            </a:pPr>
            <a:r>
              <a:rPr lang="en-US" sz="2400" dirty="0"/>
              <a:t>in our case, this means, that instead of setting "Hello" as the text value, the function goes through each element, gets the </a:t>
            </a:r>
            <a:r>
              <a:rPr lang="en-US" sz="2400" b="1" dirty="0"/>
              <a:t>__data__ </a:t>
            </a:r>
            <a:r>
              <a:rPr lang="en-US" sz="2400" dirty="0"/>
              <a:t>property and returns it to the Text Operator, so that it can set that result as the text content for the element.</a:t>
            </a:r>
          </a:p>
        </p:txBody>
      </p:sp>
    </p:spTree>
    <p:extLst>
      <p:ext uri="{BB962C8B-B14F-4D97-AF65-F5344CB8AC3E}">
        <p14:creationId xmlns:p14="http://schemas.microsoft.com/office/powerpoint/2010/main" val="16597504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JavaScript Functions in D3.js Operators</a:t>
            </a:r>
          </a:p>
        </p:txBody>
      </p:sp>
      <p:sp>
        <p:nvSpPr>
          <p:cNvPr id="3" name="Content Placeholder 2"/>
          <p:cNvSpPr>
            <a:spLocks noGrp="1"/>
          </p:cNvSpPr>
          <p:nvPr>
            <p:ph idx="1"/>
          </p:nvPr>
        </p:nvSpPr>
        <p:spPr/>
        <p:txBody>
          <a:bodyPr>
            <a:normAutofit fontScale="92500" lnSpcReduction="20000"/>
          </a:bodyPr>
          <a:lstStyle/>
          <a:p>
            <a:pPr marL="0" indent="0">
              <a:buNone/>
            </a:pPr>
            <a:r>
              <a:rPr lang="en-US" dirty="0"/>
              <a:t>We are passing a JavaScript function to the Text operator:</a:t>
            </a:r>
          </a:p>
          <a:p>
            <a:pPr marL="0" indent="0">
              <a:buNone/>
            </a:pPr>
            <a:r>
              <a:rPr lang="en-US" sz="2000" dirty="0"/>
              <a:t>function (d) { return d; }</a:t>
            </a:r>
          </a:p>
          <a:p>
            <a:pPr marL="0" indent="0">
              <a:buNone/>
            </a:pPr>
            <a:endParaRPr lang="en-US" sz="2000" dirty="0"/>
          </a:p>
          <a:p>
            <a:pPr marL="0" indent="0">
              <a:buNone/>
            </a:pPr>
            <a:r>
              <a:rPr lang="en-US" dirty="0"/>
              <a:t>Using functions, you can write anything you want using JavaScript to manipulate the data. </a:t>
            </a:r>
          </a:p>
          <a:p>
            <a:pPr marL="0" indent="0">
              <a:buNone/>
            </a:pPr>
            <a:endParaRPr lang="en-US" dirty="0"/>
          </a:p>
          <a:p>
            <a:pPr marL="0" indent="0">
              <a:buNone/>
            </a:pPr>
            <a:r>
              <a:rPr lang="en-US" dirty="0"/>
              <a:t>the variable </a:t>
            </a:r>
            <a:r>
              <a:rPr lang="en-US" i="1" dirty="0"/>
              <a:t>d</a:t>
            </a:r>
            <a:r>
              <a:rPr lang="en-US" dirty="0"/>
              <a:t> is available for use in the anonymous function. This variable is provided to us by D3.js and it refers to the current </a:t>
            </a:r>
            <a:r>
              <a:rPr lang="en-US" i="1" dirty="0"/>
              <a:t>__data__</a:t>
            </a:r>
            <a:r>
              <a:rPr lang="en-US" dirty="0"/>
              <a:t> attribute for the specific element being processed.</a:t>
            </a:r>
          </a:p>
        </p:txBody>
      </p:sp>
    </p:spTree>
    <p:extLst>
      <p:ext uri="{BB962C8B-B14F-4D97-AF65-F5344CB8AC3E}">
        <p14:creationId xmlns:p14="http://schemas.microsoft.com/office/powerpoint/2010/main" val="2410303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JavaScript Functions in D3.js Operators</a:t>
            </a:r>
          </a:p>
        </p:txBody>
      </p:sp>
      <p:sp>
        <p:nvSpPr>
          <p:cNvPr id="3" name="Content Placeholder 2"/>
          <p:cNvSpPr>
            <a:spLocks noGrp="1"/>
          </p:cNvSpPr>
          <p:nvPr>
            <p:ph idx="1"/>
          </p:nvPr>
        </p:nvSpPr>
        <p:spPr/>
        <p:txBody>
          <a:bodyPr>
            <a:normAutofit/>
          </a:bodyPr>
          <a:lstStyle/>
          <a:p>
            <a:pPr marL="0" indent="0">
              <a:buNone/>
            </a:pPr>
            <a:r>
              <a:rPr lang="en-US" dirty="0"/>
              <a:t>The are two other variables provided to us by D3.js - </a:t>
            </a:r>
            <a:r>
              <a:rPr lang="en-US" i="1" dirty="0"/>
              <a:t>this</a:t>
            </a:r>
            <a:r>
              <a:rPr lang="en-US" dirty="0"/>
              <a:t> and </a:t>
            </a:r>
            <a:r>
              <a:rPr lang="en-US" i="1" dirty="0" err="1"/>
              <a:t>i</a:t>
            </a:r>
            <a:r>
              <a:rPr lang="en-US" dirty="0"/>
              <a:t>.</a:t>
            </a:r>
          </a:p>
          <a:p>
            <a:r>
              <a:rPr lang="en-US" b="1" i="1" dirty="0"/>
              <a:t>this</a:t>
            </a:r>
            <a:r>
              <a:rPr lang="en-US" dirty="0"/>
              <a:t> refers to the current DOM element being evaluated.</a:t>
            </a:r>
          </a:p>
          <a:p>
            <a:r>
              <a:rPr lang="en-US" b="1" i="1" dirty="0" err="1"/>
              <a:t>i</a:t>
            </a:r>
            <a:r>
              <a:rPr lang="en-US" dirty="0"/>
              <a:t> refers to the index of the current HTML element being evaluated in the selected elements selection. (Note - </a:t>
            </a:r>
            <a:r>
              <a:rPr lang="en-US" i="1" dirty="0" err="1"/>
              <a:t>i</a:t>
            </a:r>
            <a:r>
              <a:rPr lang="en-US" dirty="0"/>
              <a:t> starts at 0). </a:t>
            </a:r>
          </a:p>
        </p:txBody>
      </p:sp>
    </p:spTree>
    <p:extLst>
      <p:ext uri="{BB962C8B-B14F-4D97-AF65-F5344CB8AC3E}">
        <p14:creationId xmlns:p14="http://schemas.microsoft.com/office/powerpoint/2010/main" val="76716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Using SVG</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2864114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SVG</a:t>
            </a:r>
          </a:p>
        </p:txBody>
      </p:sp>
      <p:sp>
        <p:nvSpPr>
          <p:cNvPr id="3" name="Content Placeholder 2"/>
          <p:cNvSpPr>
            <a:spLocks noGrp="1"/>
          </p:cNvSpPr>
          <p:nvPr>
            <p:ph idx="1"/>
          </p:nvPr>
        </p:nvSpPr>
        <p:spPr/>
        <p:txBody>
          <a:bodyPr/>
          <a:lstStyle/>
          <a:p>
            <a:pPr marL="0" indent="0">
              <a:buNone/>
            </a:pPr>
            <a:r>
              <a:rPr lang="en-US" dirty="0"/>
              <a:t>Rectangle Example &amp; Code:</a:t>
            </a:r>
          </a:p>
          <a:p>
            <a:pPr marL="0" indent="0">
              <a:buNone/>
            </a:pPr>
            <a:r>
              <a:rPr lang="en-GB" sz="2000" dirty="0"/>
              <a:t>&lt;</a:t>
            </a:r>
            <a:r>
              <a:rPr lang="en-GB" sz="2000" dirty="0" err="1"/>
              <a:t>svg</a:t>
            </a:r>
            <a:r>
              <a:rPr lang="en-GB" sz="2000" dirty="0"/>
              <a:t> width="50" height="50"&gt; </a:t>
            </a:r>
          </a:p>
          <a:p>
            <a:pPr marL="0" indent="0">
              <a:buNone/>
            </a:pPr>
            <a:r>
              <a:rPr lang="en-GB" sz="2000" dirty="0"/>
              <a:t>&lt;</a:t>
            </a:r>
            <a:r>
              <a:rPr lang="en-GB" sz="2000" dirty="0" err="1"/>
              <a:t>rect</a:t>
            </a:r>
            <a:r>
              <a:rPr lang="en-GB" sz="2000" dirty="0"/>
              <a:t> x="0" y="0" width="50" height="50" fill="green" /&gt;</a:t>
            </a:r>
          </a:p>
          <a:p>
            <a:pPr marL="0" indent="0">
              <a:buNone/>
            </a:pPr>
            <a:r>
              <a:rPr lang="en-GB" sz="2000" dirty="0"/>
              <a:t>&lt;/</a:t>
            </a:r>
            <a:r>
              <a:rPr lang="en-GB" sz="2000" dirty="0" err="1"/>
              <a:t>svg</a:t>
            </a:r>
            <a:r>
              <a:rPr lang="en-GB" sz="2000" dirty="0"/>
              <a:t>&gt;</a:t>
            </a:r>
            <a:endParaRPr lang="en-US" sz="2000" dirty="0"/>
          </a:p>
          <a:p>
            <a:pPr marL="0" indent="0">
              <a:buNone/>
            </a:pPr>
            <a:r>
              <a:rPr lang="en-US" dirty="0"/>
              <a:t>Circle example and code:</a:t>
            </a:r>
          </a:p>
          <a:p>
            <a:pPr marL="0" indent="0">
              <a:buNone/>
            </a:pPr>
            <a:r>
              <a:rPr lang="en-US" sz="2000" dirty="0"/>
              <a:t>&lt;</a:t>
            </a:r>
            <a:r>
              <a:rPr lang="en-US" sz="2000" dirty="0" err="1"/>
              <a:t>svg</a:t>
            </a:r>
            <a:r>
              <a:rPr lang="en-US" sz="2000" dirty="0"/>
              <a:t> width="50" height="50"&gt; </a:t>
            </a:r>
          </a:p>
          <a:p>
            <a:pPr marL="0" indent="0">
              <a:buNone/>
            </a:pPr>
            <a:r>
              <a:rPr lang="en-US" sz="2000" dirty="0"/>
              <a:t>&lt;circle cx="25" cy="25" r="25" fill="purple" /&gt; </a:t>
            </a:r>
          </a:p>
          <a:p>
            <a:pPr marL="0" indent="0">
              <a:buNone/>
            </a:pPr>
            <a:r>
              <a:rPr lang="en-US" sz="2000" dirty="0"/>
              <a:t>&lt;/</a:t>
            </a:r>
            <a:r>
              <a:rPr lang="en-US" sz="2000" dirty="0" err="1"/>
              <a:t>svg</a:t>
            </a:r>
            <a:r>
              <a:rPr lang="en-US" sz="2000" dirty="0"/>
              <a:t>&gt;</a:t>
            </a:r>
          </a:p>
        </p:txBody>
      </p:sp>
      <p:sp>
        <p:nvSpPr>
          <p:cNvPr id="4" name="Rectangle 3"/>
          <p:cNvSpPr/>
          <p:nvPr/>
        </p:nvSpPr>
        <p:spPr>
          <a:xfrm>
            <a:off x="7308304" y="2204864"/>
            <a:ext cx="864096" cy="72008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 name="Oval 4"/>
          <p:cNvSpPr/>
          <p:nvPr/>
        </p:nvSpPr>
        <p:spPr>
          <a:xfrm>
            <a:off x="7392563" y="4221088"/>
            <a:ext cx="635821" cy="648072"/>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1813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SVG coordinate space</a:t>
            </a:r>
          </a:p>
        </p:txBody>
      </p:sp>
      <p:pic>
        <p:nvPicPr>
          <p:cNvPr id="2050" name="Picture 2" descr="SVG Coordinate Graph Circle Draw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7638"/>
            <a:ext cx="3152775" cy="1905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611560" y="4889742"/>
            <a:ext cx="6839744" cy="1538883"/>
          </a:xfrm>
          <a:prstGeom prst="rect">
            <a:avLst/>
          </a:prstGeom>
          <a:solidFill>
            <a:srgbClr val="F8F8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rgbClr val="000000"/>
                </a:solidFill>
                <a:effectLst/>
                <a:latin typeface="Monaco"/>
                <a:cs typeface="Arial" pitchFamily="34" charset="0"/>
              </a:rPr>
              <a:t>var</a:t>
            </a:r>
            <a:r>
              <a:rPr kumimoji="0" lang="en-US" altLang="en-US" sz="2000" b="0" i="0" u="none" strike="noStrike" cap="none" normalizeH="0" baseline="0" dirty="0">
                <a:ln>
                  <a:noFill/>
                </a:ln>
                <a:solidFill>
                  <a:srgbClr val="333333"/>
                </a:solidFill>
                <a:effectLst/>
                <a:latin typeface="Monaco"/>
                <a:cs typeface="Arial" pitchFamily="34" charset="0"/>
              </a:rPr>
              <a:t> </a:t>
            </a:r>
            <a:r>
              <a:rPr kumimoji="0" lang="en-US" altLang="en-US" sz="2000" b="0" i="0" u="none" strike="noStrike" cap="none" normalizeH="0" baseline="0" dirty="0" err="1">
                <a:ln>
                  <a:noFill/>
                </a:ln>
                <a:solidFill>
                  <a:srgbClr val="333333"/>
                </a:solidFill>
                <a:effectLst/>
                <a:latin typeface="Monaco"/>
                <a:cs typeface="Arial" pitchFamily="34" charset="0"/>
              </a:rPr>
              <a:t>svgContainer</a:t>
            </a:r>
            <a:r>
              <a:rPr kumimoji="0" lang="en-US" altLang="en-US" sz="2000" b="0" i="0" u="none" strike="noStrike" cap="none" normalizeH="0" baseline="0" dirty="0">
                <a:ln>
                  <a:noFill/>
                </a:ln>
                <a:solidFill>
                  <a:srgbClr val="333333"/>
                </a:solidFill>
                <a:effectLst/>
                <a:latin typeface="Monaco"/>
                <a:cs typeface="Arial" pitchFamily="34" charset="0"/>
              </a:rPr>
              <a:t> = d3.select(</a:t>
            </a:r>
            <a:r>
              <a:rPr kumimoji="0" lang="en-US" altLang="en-US" sz="2000" b="0" i="0" u="none" strike="noStrike" cap="none" normalizeH="0" baseline="0" dirty="0">
                <a:ln>
                  <a:noFill/>
                </a:ln>
                <a:solidFill>
                  <a:srgbClr val="DD1144"/>
                </a:solidFill>
                <a:effectLst/>
                <a:latin typeface="Monaco"/>
                <a:cs typeface="Arial" pitchFamily="34" charset="0"/>
              </a:rPr>
              <a:t>"body"</a:t>
            </a:r>
            <a:r>
              <a:rPr kumimoji="0" lang="en-US" altLang="en-US" sz="2000" b="0" i="0" u="none" strike="noStrike" cap="none" normalizeH="0" baseline="0" dirty="0">
                <a:ln>
                  <a:noFill/>
                </a:ln>
                <a:solidFill>
                  <a:srgbClr val="333333"/>
                </a:solidFill>
                <a:effectLst/>
                <a:latin typeface="Monaco"/>
                <a:cs typeface="Arial" pitchFamily="34" charset="0"/>
              </a:rPr>
              <a:t>).</a:t>
            </a:r>
          </a:p>
          <a:p>
            <a:pPr marL="0" marR="0" lvl="0" indent="0" defTabSz="914400" rtl="0" eaLnBrk="1" fontAlgn="base" latinLnBrk="0" hangingPunct="1">
              <a:lnSpc>
                <a:spcPct val="100000"/>
              </a:lnSpc>
              <a:spcBef>
                <a:spcPct val="0"/>
              </a:spcBef>
              <a:spcAft>
                <a:spcPct val="0"/>
              </a:spcAft>
              <a:buClrTx/>
              <a:buSzTx/>
              <a:buFontTx/>
              <a:buNone/>
              <a:tabLst/>
            </a:pPr>
            <a:r>
              <a:rPr lang="en-US" altLang="en-US" sz="2000" dirty="0">
                <a:solidFill>
                  <a:srgbClr val="333333"/>
                </a:solidFill>
                <a:latin typeface="Monaco"/>
                <a:cs typeface="Arial" pitchFamily="34" charset="0"/>
              </a:rPr>
              <a:t>			</a:t>
            </a:r>
            <a:r>
              <a:rPr kumimoji="0" lang="en-US" altLang="en-US" sz="2000" b="0" i="0" u="none" strike="noStrike" cap="none" normalizeH="0" baseline="0" dirty="0">
                <a:ln>
                  <a:noFill/>
                </a:ln>
                <a:solidFill>
                  <a:srgbClr val="333333"/>
                </a:solidFill>
                <a:effectLst/>
                <a:latin typeface="Monaco"/>
                <a:cs typeface="Arial" pitchFamily="34" charset="0"/>
              </a:rPr>
              <a:t>append(</a:t>
            </a:r>
            <a:r>
              <a:rPr kumimoji="0" lang="en-US" altLang="en-US" sz="2000" b="0" i="0" u="none" strike="noStrike" cap="none" normalizeH="0" baseline="0" dirty="0">
                <a:ln>
                  <a:noFill/>
                </a:ln>
                <a:solidFill>
                  <a:srgbClr val="DD1144"/>
                </a:solidFill>
                <a:effectLst/>
                <a:latin typeface="Monaco"/>
                <a:cs typeface="Arial" pitchFamily="34" charset="0"/>
              </a:rPr>
              <a:t>"</a:t>
            </a:r>
            <a:r>
              <a:rPr kumimoji="0" lang="en-US" altLang="en-US" sz="2000" b="0" i="0" u="none" strike="noStrike" cap="none" normalizeH="0" baseline="0" dirty="0" err="1">
                <a:ln>
                  <a:noFill/>
                </a:ln>
                <a:solidFill>
                  <a:srgbClr val="DD1144"/>
                </a:solidFill>
                <a:effectLst/>
                <a:latin typeface="Monaco"/>
                <a:cs typeface="Arial" pitchFamily="34" charset="0"/>
              </a:rPr>
              <a:t>svg</a:t>
            </a:r>
            <a:r>
              <a:rPr kumimoji="0" lang="en-US" altLang="en-US" sz="2000" b="0" i="0" u="none" strike="noStrike" cap="none" normalizeH="0" baseline="0" dirty="0">
                <a:ln>
                  <a:noFill/>
                </a:ln>
                <a:solidFill>
                  <a:srgbClr val="DD1144"/>
                </a:solidFill>
                <a:effectLst/>
                <a:latin typeface="Monaco"/>
                <a:cs typeface="Arial" pitchFamily="34" charset="0"/>
              </a:rPr>
              <a:t>"</a:t>
            </a:r>
            <a:r>
              <a:rPr kumimoji="0" lang="en-US" altLang="en-US" sz="2000" b="0" i="0" u="none" strike="noStrike" cap="none" normalizeH="0" baseline="0" dirty="0">
                <a:ln>
                  <a:noFill/>
                </a:ln>
                <a:solidFill>
                  <a:srgbClr val="333333"/>
                </a:solidFill>
                <a:effectLst/>
                <a:latin typeface="Monaco"/>
                <a:cs typeface="Arial" pitchFamily="34" charset="0"/>
              </a:rPr>
              <a:t>) </a:t>
            </a:r>
            <a:endParaRPr lang="en-US" altLang="en-US" sz="2000" dirty="0">
              <a:solidFill>
                <a:srgbClr val="AAAAAA"/>
              </a:solidFill>
              <a:latin typeface="Monaco"/>
              <a:cs typeface="Arial" pitchFamily="34" charset="0"/>
            </a:endParaRPr>
          </a:p>
          <a:p>
            <a:pPr marL="0" marR="0" lvl="0" indent="0"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AAAAAA"/>
                </a:solidFill>
                <a:effectLst/>
                <a:latin typeface="Monaco"/>
                <a:cs typeface="Arial" pitchFamily="34" charset="0"/>
              </a:rPr>
              <a:t>			</a:t>
            </a:r>
            <a:r>
              <a:rPr kumimoji="0" lang="en-US" altLang="en-US" sz="2000" b="0" i="0" u="none" strike="noStrike" cap="none" normalizeH="0" baseline="0" dirty="0">
                <a:ln>
                  <a:noFill/>
                </a:ln>
                <a:solidFill>
                  <a:srgbClr val="333333"/>
                </a:solidFill>
                <a:effectLst/>
                <a:latin typeface="Monaco"/>
                <a:cs typeface="Arial" pitchFamily="34" charset="0"/>
              </a:rPr>
              <a:t>.</a:t>
            </a:r>
            <a:r>
              <a:rPr kumimoji="0" lang="en-US" altLang="en-US" sz="2000" b="0" i="0" u="none" strike="noStrike" cap="none" normalizeH="0" baseline="0" dirty="0" err="1">
                <a:ln>
                  <a:noFill/>
                </a:ln>
                <a:solidFill>
                  <a:srgbClr val="333333"/>
                </a:solidFill>
                <a:effectLst/>
                <a:latin typeface="Monaco"/>
                <a:cs typeface="Arial" pitchFamily="34" charset="0"/>
              </a:rPr>
              <a:t>attr</a:t>
            </a:r>
            <a:r>
              <a:rPr kumimoji="0" lang="en-US" altLang="en-US" sz="2000" b="0" i="0" u="none" strike="noStrike" cap="none" normalizeH="0" baseline="0" dirty="0">
                <a:ln>
                  <a:noFill/>
                </a:ln>
                <a:solidFill>
                  <a:srgbClr val="333333"/>
                </a:solidFill>
                <a:effectLst/>
                <a:latin typeface="Monaco"/>
                <a:cs typeface="Arial" pitchFamily="34" charset="0"/>
              </a:rPr>
              <a:t>(</a:t>
            </a:r>
            <a:r>
              <a:rPr kumimoji="0" lang="en-US" altLang="en-US" sz="2000" b="0" i="0" u="none" strike="noStrike" cap="none" normalizeH="0" baseline="0" dirty="0">
                <a:ln>
                  <a:noFill/>
                </a:ln>
                <a:solidFill>
                  <a:srgbClr val="DD1144"/>
                </a:solidFill>
                <a:effectLst/>
                <a:latin typeface="Monaco"/>
                <a:cs typeface="Arial" pitchFamily="34" charset="0"/>
              </a:rPr>
              <a:t>"width"</a:t>
            </a:r>
            <a:r>
              <a:rPr kumimoji="0" lang="en-US" altLang="en-US" sz="2000" b="0" i="0" u="none" strike="noStrike" cap="none" normalizeH="0" baseline="0" dirty="0">
                <a:ln>
                  <a:noFill/>
                </a:ln>
                <a:solidFill>
                  <a:srgbClr val="333333"/>
                </a:solidFill>
                <a:effectLst/>
                <a:latin typeface="Monaco"/>
                <a:cs typeface="Arial" pitchFamily="34" charset="0"/>
              </a:rPr>
              <a:t>, </a:t>
            </a:r>
            <a:r>
              <a:rPr kumimoji="0" lang="en-US" altLang="en-US" sz="2000" b="0" i="0" u="none" strike="noStrike" cap="none" normalizeH="0" baseline="0" dirty="0">
                <a:ln>
                  <a:noFill/>
                </a:ln>
                <a:solidFill>
                  <a:srgbClr val="009999"/>
                </a:solidFill>
                <a:effectLst/>
                <a:latin typeface="Monaco"/>
                <a:cs typeface="Arial" pitchFamily="34" charset="0"/>
              </a:rPr>
              <a:t>200</a:t>
            </a:r>
            <a:r>
              <a:rPr kumimoji="0" lang="en-US" altLang="en-US" sz="2000" b="0" i="0" u="none" strike="noStrike" cap="none" normalizeH="0" baseline="0" dirty="0">
                <a:ln>
                  <a:noFill/>
                </a:ln>
                <a:solidFill>
                  <a:srgbClr val="333333"/>
                </a:solidFill>
                <a:effectLst/>
                <a:latin typeface="Monaco"/>
                <a:cs typeface="Arial" pitchFamily="34" charset="0"/>
              </a:rPr>
              <a:t>) </a:t>
            </a:r>
            <a:endParaRPr lang="en-US" altLang="en-US" sz="2000" dirty="0">
              <a:solidFill>
                <a:srgbClr val="AAAAAA"/>
              </a:solidFill>
              <a:latin typeface="Monaco"/>
              <a:cs typeface="Arial" pitchFamily="34" charset="0"/>
            </a:endParaRPr>
          </a:p>
          <a:p>
            <a:pPr marL="0" marR="0" lvl="0" indent="0"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AAAAAA"/>
                </a:solidFill>
                <a:effectLst/>
                <a:latin typeface="Monaco"/>
                <a:cs typeface="Arial" pitchFamily="34" charset="0"/>
              </a:rPr>
              <a:t>			.</a:t>
            </a:r>
            <a:r>
              <a:rPr kumimoji="0" lang="en-US" altLang="en-US" sz="2000" b="0" i="0" u="none" strike="noStrike" cap="none" normalizeH="0" baseline="0" dirty="0" err="1">
                <a:ln>
                  <a:noFill/>
                </a:ln>
                <a:solidFill>
                  <a:srgbClr val="333333"/>
                </a:solidFill>
                <a:effectLst/>
                <a:latin typeface="Monaco"/>
                <a:cs typeface="Arial" pitchFamily="34" charset="0"/>
              </a:rPr>
              <a:t>attr</a:t>
            </a:r>
            <a:r>
              <a:rPr kumimoji="0" lang="en-US" altLang="en-US" sz="2000" b="0" i="0" u="none" strike="noStrike" cap="none" normalizeH="0" baseline="0" dirty="0">
                <a:ln>
                  <a:noFill/>
                </a:ln>
                <a:solidFill>
                  <a:srgbClr val="333333"/>
                </a:solidFill>
                <a:effectLst/>
                <a:latin typeface="Monaco"/>
                <a:cs typeface="Arial" pitchFamily="34" charset="0"/>
              </a:rPr>
              <a:t>(</a:t>
            </a:r>
            <a:r>
              <a:rPr kumimoji="0" lang="en-US" altLang="en-US" sz="2000" b="0" i="0" u="none" strike="noStrike" cap="none" normalizeH="0" baseline="0" dirty="0">
                <a:ln>
                  <a:noFill/>
                </a:ln>
                <a:solidFill>
                  <a:srgbClr val="DD1144"/>
                </a:solidFill>
                <a:effectLst/>
                <a:latin typeface="Monaco"/>
                <a:cs typeface="Arial" pitchFamily="34" charset="0"/>
              </a:rPr>
              <a:t>"height"</a:t>
            </a:r>
            <a:r>
              <a:rPr kumimoji="0" lang="en-US" altLang="en-US" sz="2000" b="0" i="0" u="none" strike="noStrike" cap="none" normalizeH="0" baseline="0" dirty="0">
                <a:ln>
                  <a:noFill/>
                </a:ln>
                <a:solidFill>
                  <a:srgbClr val="333333"/>
                </a:solidFill>
                <a:effectLst/>
                <a:latin typeface="Monaco"/>
                <a:cs typeface="Arial" pitchFamily="34" charset="0"/>
              </a:rPr>
              <a:t>, </a:t>
            </a:r>
            <a:r>
              <a:rPr kumimoji="0" lang="en-US" altLang="en-US" sz="2000" b="0" i="0" u="none" strike="noStrike" cap="none" normalizeH="0" baseline="0" dirty="0">
                <a:ln>
                  <a:noFill/>
                </a:ln>
                <a:solidFill>
                  <a:srgbClr val="009999"/>
                </a:solidFill>
                <a:effectLst/>
                <a:latin typeface="Monaco"/>
                <a:cs typeface="Arial" pitchFamily="34" charset="0"/>
              </a:rPr>
              <a:t>200</a:t>
            </a:r>
            <a:r>
              <a:rPr kumimoji="0" lang="en-US" altLang="en-US" sz="2000" b="0" i="0" u="none" strike="noStrike" cap="none" normalizeH="0" baseline="0" dirty="0">
                <a:ln>
                  <a:noFill/>
                </a:ln>
                <a:solidFill>
                  <a:srgbClr val="333333"/>
                </a:solidFill>
                <a:effectLst/>
                <a:latin typeface="Monaco"/>
                <a:cs typeface="Arial" pitchFamily="34" charset="0"/>
              </a:rPr>
              <a:t>) </a:t>
            </a:r>
            <a:endParaRPr lang="en-US" altLang="en-US" sz="2000" dirty="0">
              <a:solidFill>
                <a:srgbClr val="AAAAAA"/>
              </a:solidFill>
              <a:latin typeface="Monaco"/>
              <a:cs typeface="Arial" pitchFamily="34" charset="0"/>
            </a:endParaRPr>
          </a:p>
          <a:p>
            <a:pPr marL="0" marR="0" lvl="0" indent="0" defTabSz="914400" rtl="0" eaLnBrk="1" fontAlgn="base" latinLnBrk="0" hangingPunct="1">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AAAAAA"/>
                </a:solidFill>
                <a:effectLst/>
                <a:latin typeface="Monaco"/>
                <a:cs typeface="Arial" pitchFamily="34" charset="0"/>
              </a:rPr>
              <a:t>			</a:t>
            </a:r>
            <a:r>
              <a:rPr kumimoji="0" lang="en-US" altLang="en-US" sz="2000" b="0" i="0" u="none" strike="noStrike" cap="none" normalizeH="0" baseline="0" dirty="0">
                <a:ln>
                  <a:noFill/>
                </a:ln>
                <a:solidFill>
                  <a:srgbClr val="333333"/>
                </a:solidFill>
                <a:effectLst/>
                <a:latin typeface="Monaco"/>
                <a:cs typeface="Arial" pitchFamily="34" charset="0"/>
              </a:rPr>
              <a:t>.style(</a:t>
            </a:r>
            <a:r>
              <a:rPr kumimoji="0" lang="en-US" altLang="en-US" sz="2000" b="0" i="0" u="none" strike="noStrike" cap="none" normalizeH="0" baseline="0" dirty="0">
                <a:ln>
                  <a:noFill/>
                </a:ln>
                <a:solidFill>
                  <a:srgbClr val="DD1144"/>
                </a:solidFill>
                <a:effectLst/>
                <a:latin typeface="Monaco"/>
                <a:cs typeface="Arial" pitchFamily="34" charset="0"/>
              </a:rPr>
              <a:t>"border"</a:t>
            </a:r>
            <a:r>
              <a:rPr kumimoji="0" lang="en-US" altLang="en-US" sz="2000" b="0" i="0" u="none" strike="noStrike" cap="none" normalizeH="0" baseline="0" dirty="0">
                <a:ln>
                  <a:noFill/>
                </a:ln>
                <a:solidFill>
                  <a:srgbClr val="333333"/>
                </a:solidFill>
                <a:effectLst/>
                <a:latin typeface="Monaco"/>
                <a:cs typeface="Arial" pitchFamily="34" charset="0"/>
              </a:rPr>
              <a:t>, </a:t>
            </a:r>
            <a:r>
              <a:rPr kumimoji="0" lang="en-US" altLang="en-US" sz="2000" b="0" i="0" u="none" strike="noStrike" cap="none" normalizeH="0" baseline="0" dirty="0">
                <a:ln>
                  <a:noFill/>
                </a:ln>
                <a:solidFill>
                  <a:srgbClr val="DD1144"/>
                </a:solidFill>
                <a:effectLst/>
                <a:latin typeface="Monaco"/>
                <a:cs typeface="Arial" pitchFamily="34" charset="0"/>
              </a:rPr>
              <a:t>"1px solid black"</a:t>
            </a:r>
            <a:r>
              <a:rPr kumimoji="0" lang="en-US" altLang="en-US" sz="2000" b="0" i="0" u="none" strike="noStrike" cap="none" normalizeH="0" baseline="0" dirty="0">
                <a:ln>
                  <a:noFill/>
                </a:ln>
                <a:solidFill>
                  <a:srgbClr val="333333"/>
                </a:solidFill>
                <a:effectLst/>
                <a:latin typeface="Monaco"/>
                <a:cs typeface="Arial" pitchFamily="34" charset="0"/>
              </a:rPr>
              <a:t>);</a:t>
            </a:r>
            <a:r>
              <a:rPr kumimoji="0" lang="en-US" altLang="en-US" sz="1400" b="0" i="0" u="none" strike="noStrike" cap="none" normalizeH="0" baseline="0" dirty="0">
                <a:ln>
                  <a:noFill/>
                </a:ln>
                <a:solidFill>
                  <a:schemeClr val="tx1"/>
                </a:solidFill>
                <a:effectLst/>
                <a:latin typeface="Arial" pitchFamily="34" charset="0"/>
                <a:cs typeface="Arial" pitchFamily="34" charset="0"/>
              </a:rPr>
              <a:t> </a:t>
            </a:r>
            <a:endParaRPr kumimoji="0" lang="en-US" altLang="en-US" sz="4800" b="0" i="0" u="none" strike="noStrike" cap="none" normalizeH="0" baseline="0" dirty="0">
              <a:ln>
                <a:noFill/>
              </a:ln>
              <a:solidFill>
                <a:schemeClr val="tx1"/>
              </a:solidFill>
              <a:effectLst/>
              <a:latin typeface="Arial" pitchFamily="34" charset="0"/>
              <a:cs typeface="Arial" pitchFamily="34" charset="0"/>
            </a:endParaRPr>
          </a:p>
        </p:txBody>
      </p:sp>
      <p:sp>
        <p:nvSpPr>
          <p:cNvPr id="3" name="Rectangle 1"/>
          <p:cNvSpPr>
            <a:spLocks noChangeArrowheads="1"/>
          </p:cNvSpPr>
          <p:nvPr/>
        </p:nvSpPr>
        <p:spPr bwMode="auto">
          <a:xfrm>
            <a:off x="0" y="0"/>
            <a:ext cx="9144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88"/>
                </a:solidFill>
                <a:effectLst/>
                <a:latin typeface="Courier New" panose="02070309020205020404" pitchFamily="49" charset="0"/>
              </a:rPr>
              <a:t>&lt;</a:t>
            </a:r>
            <a:r>
              <a:rPr kumimoji="0" lang="en-US" altLang="en-US" sz="1100" b="0" i="0" u="none" strike="noStrike" cap="none" normalizeH="0" baseline="0" dirty="0" err="1">
                <a:ln>
                  <a:noFill/>
                </a:ln>
                <a:solidFill>
                  <a:srgbClr val="000088"/>
                </a:solidFill>
                <a:effectLst/>
                <a:latin typeface="Courier New" panose="02070309020205020404" pitchFamily="49" charset="0"/>
              </a:rPr>
              <a:t>svg</a:t>
            </a:r>
            <a:r>
              <a:rPr kumimoji="0" lang="en-US" altLang="en-US" sz="1100" b="0" i="0" u="none" strike="noStrike" cap="none" normalizeH="0" baseline="0" dirty="0">
                <a:ln>
                  <a:noFill/>
                </a:ln>
                <a:solidFill>
                  <a:srgbClr val="000088"/>
                </a:solidFill>
                <a:effectLst/>
                <a:latin typeface="Courier New" panose="02070309020205020404" pitchFamily="49" charset="0"/>
              </a:rPr>
              <a:t> width="500" height="50"&gt; &lt;/</a:t>
            </a:r>
            <a:r>
              <a:rPr kumimoji="0" lang="en-US" altLang="en-US" sz="1100" b="0" i="0" u="none" strike="noStrike" cap="none" normalizeH="0" baseline="0" dirty="0" err="1">
                <a:ln>
                  <a:noFill/>
                </a:ln>
                <a:solidFill>
                  <a:srgbClr val="000088"/>
                </a:solidFill>
                <a:effectLst/>
                <a:latin typeface="Courier New" panose="02070309020205020404" pitchFamily="49" charset="0"/>
              </a:rPr>
              <a:t>svg</a:t>
            </a:r>
            <a:r>
              <a:rPr kumimoji="0" lang="en-US" altLang="en-US" sz="1100" b="0" i="0" u="none" strike="noStrike" cap="none" normalizeH="0" baseline="0" dirty="0">
                <a:ln>
                  <a:noFill/>
                </a:ln>
                <a:solidFill>
                  <a:srgbClr val="000088"/>
                </a:solidFill>
                <a:effectLst/>
                <a:latin typeface="Courier New" panose="02070309020205020404" pitchFamily="49" charset="0"/>
              </a:rPr>
              <a:t>&gt;</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a:spLocks noChangeArrowheads="1"/>
          </p:cNvSpPr>
          <p:nvPr/>
        </p:nvSpPr>
        <p:spPr bwMode="auto">
          <a:xfrm>
            <a:off x="611560" y="3621527"/>
            <a:ext cx="6839744" cy="615553"/>
          </a:xfrm>
          <a:prstGeom prst="rect">
            <a:avLst/>
          </a:prstGeom>
          <a:solidFill>
            <a:srgbClr val="F8F8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lvl="0" fontAlgn="base">
              <a:spcBef>
                <a:spcPct val="0"/>
              </a:spcBef>
              <a:spcAft>
                <a:spcPct val="0"/>
              </a:spcAft>
            </a:pPr>
            <a:r>
              <a:rPr lang="he-IL" altLang="en-US" sz="2000" dirty="0">
                <a:solidFill>
                  <a:srgbClr val="333333"/>
                </a:solidFill>
                <a:latin typeface="Monaco"/>
                <a:cs typeface="Arial" pitchFamily="34" charset="0"/>
              </a:rPr>
              <a:t>&gt;</a:t>
            </a:r>
            <a:r>
              <a:rPr lang="en-US" altLang="en-US" sz="2000" dirty="0" err="1">
                <a:solidFill>
                  <a:srgbClr val="333333"/>
                </a:solidFill>
                <a:latin typeface="Monaco"/>
                <a:cs typeface="Arial" pitchFamily="34" charset="0"/>
              </a:rPr>
              <a:t>svg</a:t>
            </a:r>
            <a:r>
              <a:rPr lang="en-US" altLang="en-US" sz="2000" dirty="0">
                <a:solidFill>
                  <a:srgbClr val="333333"/>
                </a:solidFill>
                <a:latin typeface="Monaco"/>
                <a:cs typeface="Arial" pitchFamily="34" charset="0"/>
              </a:rPr>
              <a:t> width="500" height="50"&gt; </a:t>
            </a:r>
          </a:p>
          <a:p>
            <a:pPr lvl="0" fontAlgn="base">
              <a:spcBef>
                <a:spcPct val="0"/>
              </a:spcBef>
              <a:spcAft>
                <a:spcPct val="0"/>
              </a:spcAft>
            </a:pPr>
            <a:r>
              <a:rPr lang="en-US" altLang="en-US" sz="2000" dirty="0">
                <a:solidFill>
                  <a:srgbClr val="333333"/>
                </a:solidFill>
                <a:latin typeface="Monaco"/>
                <a:cs typeface="Arial" pitchFamily="34" charset="0"/>
              </a:rPr>
              <a:t>&lt;/</a:t>
            </a:r>
            <a:r>
              <a:rPr lang="en-US" altLang="en-US" sz="2000" dirty="0" err="1">
                <a:solidFill>
                  <a:srgbClr val="333333"/>
                </a:solidFill>
                <a:latin typeface="Monaco"/>
                <a:cs typeface="Arial" pitchFamily="34" charset="0"/>
              </a:rPr>
              <a:t>svg</a:t>
            </a:r>
            <a:r>
              <a:rPr lang="en-US" altLang="en-US" sz="2000" dirty="0">
                <a:solidFill>
                  <a:srgbClr val="333333"/>
                </a:solidFill>
                <a:latin typeface="Monaco"/>
                <a:cs typeface="Arial" pitchFamily="34" charset="0"/>
              </a:rPr>
              <a:t>&gt;</a:t>
            </a:r>
          </a:p>
        </p:txBody>
      </p:sp>
    </p:spTree>
    <p:extLst>
      <p:ext uri="{BB962C8B-B14F-4D97-AF65-F5344CB8AC3E}">
        <p14:creationId xmlns:p14="http://schemas.microsoft.com/office/powerpoint/2010/main" val="2536820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Creating SVG elements based on data</a:t>
            </a:r>
          </a:p>
        </p:txBody>
      </p:sp>
      <p:sp>
        <p:nvSpPr>
          <p:cNvPr id="3" name="Content Placeholder 2"/>
          <p:cNvSpPr>
            <a:spLocks noGrp="1"/>
          </p:cNvSpPr>
          <p:nvPr>
            <p:ph idx="1"/>
          </p:nvPr>
        </p:nvSpPr>
        <p:spPr>
          <a:xfrm>
            <a:off x="914400" y="1387009"/>
            <a:ext cx="8229600" cy="4525963"/>
          </a:xfrm>
        </p:spPr>
        <p:txBody>
          <a:bodyPr>
            <a:normAutofit fontScale="77500" lnSpcReduction="20000"/>
          </a:bodyPr>
          <a:lstStyle/>
          <a:p>
            <a:pPr marL="0" indent="0">
              <a:buNone/>
            </a:pPr>
            <a:r>
              <a:rPr lang="en-US" sz="2400" dirty="0"/>
              <a:t>&lt;</a:t>
            </a:r>
            <a:r>
              <a:rPr lang="en-US" sz="2400" dirty="0" err="1"/>
              <a:t>svg</a:t>
            </a:r>
            <a:r>
              <a:rPr lang="en-US" sz="2400" dirty="0"/>
              <a:t> width="50" height="50"&gt; </a:t>
            </a:r>
          </a:p>
          <a:p>
            <a:pPr marL="0" indent="0">
              <a:buNone/>
            </a:pPr>
            <a:r>
              <a:rPr lang="en-US" sz="2400" dirty="0"/>
              <a:t>&lt;circle cx="25" cy="25" r="25" fill="purple" /&gt; </a:t>
            </a:r>
          </a:p>
          <a:p>
            <a:pPr marL="0" indent="0">
              <a:buNone/>
            </a:pPr>
            <a:r>
              <a:rPr lang="en-US" sz="2400" dirty="0"/>
              <a:t>&lt;/</a:t>
            </a:r>
            <a:r>
              <a:rPr lang="en-US" sz="2400" dirty="0" err="1"/>
              <a:t>svg</a:t>
            </a:r>
            <a:r>
              <a:rPr lang="en-US" sz="2400" dirty="0"/>
              <a:t>&gt;</a:t>
            </a:r>
          </a:p>
          <a:p>
            <a:pPr marL="0" indent="0">
              <a:buNone/>
            </a:pPr>
            <a:endParaRPr lang="en-US" sz="2400" dirty="0"/>
          </a:p>
          <a:p>
            <a:pPr marL="0" indent="0">
              <a:buNone/>
            </a:pPr>
            <a:r>
              <a:rPr lang="en-US" sz="2400" dirty="0"/>
              <a:t>Is the same as doing this:</a:t>
            </a:r>
          </a:p>
          <a:p>
            <a:pPr marL="0" indent="0">
              <a:buNone/>
            </a:pPr>
            <a:endParaRPr lang="en-US" sz="2400" dirty="0"/>
          </a:p>
          <a:p>
            <a:pPr marL="0" indent="0">
              <a:buNone/>
            </a:pPr>
            <a:r>
              <a:rPr lang="en-US" sz="2400" b="1" dirty="0" err="1"/>
              <a:t>var</a:t>
            </a:r>
            <a:r>
              <a:rPr lang="en-US" sz="2400" dirty="0"/>
              <a:t> </a:t>
            </a:r>
            <a:r>
              <a:rPr lang="en-US" sz="2400" dirty="0" err="1"/>
              <a:t>svgContainer</a:t>
            </a:r>
            <a:r>
              <a:rPr lang="en-US" sz="2400" dirty="0"/>
              <a:t> = d3.select("body").append("</a:t>
            </a:r>
            <a:r>
              <a:rPr lang="en-US" sz="2400" dirty="0" err="1"/>
              <a:t>svg</a:t>
            </a:r>
            <a:r>
              <a:rPr lang="en-US" sz="2400" dirty="0"/>
              <a:t>")</a:t>
            </a:r>
          </a:p>
          <a:p>
            <a:pPr marL="0" indent="0">
              <a:buNone/>
            </a:pPr>
            <a:r>
              <a:rPr lang="en-US" sz="2400" dirty="0"/>
              <a:t>					.</a:t>
            </a:r>
            <a:r>
              <a:rPr lang="en-US" sz="2400" dirty="0" err="1"/>
              <a:t>attr</a:t>
            </a:r>
            <a:r>
              <a:rPr lang="en-US" sz="2400" dirty="0"/>
              <a:t>("width", 200)</a:t>
            </a:r>
          </a:p>
          <a:p>
            <a:pPr marL="0" indent="0">
              <a:buNone/>
            </a:pPr>
            <a:r>
              <a:rPr lang="en-US" sz="2400" dirty="0"/>
              <a:t>					.</a:t>
            </a:r>
            <a:r>
              <a:rPr lang="en-US" sz="2400" dirty="0" err="1"/>
              <a:t>attr</a:t>
            </a:r>
            <a:r>
              <a:rPr lang="en-US" sz="2400" dirty="0"/>
              <a:t>("height", 200);</a:t>
            </a:r>
          </a:p>
          <a:p>
            <a:pPr marL="0" indent="0">
              <a:buNone/>
            </a:pPr>
            <a:endParaRPr lang="en-US" sz="2400" dirty="0"/>
          </a:p>
          <a:p>
            <a:pPr marL="0" indent="0">
              <a:buNone/>
            </a:pPr>
            <a:r>
              <a:rPr lang="en-US" sz="2400" b="1" dirty="0" err="1"/>
              <a:t>var</a:t>
            </a:r>
            <a:r>
              <a:rPr lang="en-US" sz="2400" dirty="0"/>
              <a:t> </a:t>
            </a:r>
            <a:r>
              <a:rPr lang="en-US" sz="2400" dirty="0" err="1"/>
              <a:t>circleSelection</a:t>
            </a:r>
            <a:r>
              <a:rPr lang="en-US" sz="2400" dirty="0"/>
              <a:t> = </a:t>
            </a:r>
            <a:r>
              <a:rPr lang="en-US" sz="2400" dirty="0" err="1"/>
              <a:t>svgContainer.append</a:t>
            </a:r>
            <a:r>
              <a:rPr lang="en-US" sz="2400" dirty="0"/>
              <a:t>("circle")</a:t>
            </a:r>
          </a:p>
          <a:p>
            <a:pPr marL="0" indent="0">
              <a:buNone/>
            </a:pPr>
            <a:r>
              <a:rPr lang="en-US" sz="2400" dirty="0"/>
              <a:t>				      .</a:t>
            </a:r>
            <a:r>
              <a:rPr lang="en-US" sz="2400" dirty="0" err="1"/>
              <a:t>attr</a:t>
            </a:r>
            <a:r>
              <a:rPr lang="en-US" sz="2400" dirty="0"/>
              <a:t>("cx", 25)</a:t>
            </a:r>
          </a:p>
          <a:p>
            <a:pPr marL="0" indent="0">
              <a:buNone/>
            </a:pPr>
            <a:r>
              <a:rPr lang="en-US" sz="2400" dirty="0"/>
              <a:t>				      .</a:t>
            </a:r>
            <a:r>
              <a:rPr lang="en-US" sz="2400" dirty="0" err="1"/>
              <a:t>attr</a:t>
            </a:r>
            <a:r>
              <a:rPr lang="en-US" sz="2400" dirty="0"/>
              <a:t>("cy", 25)</a:t>
            </a:r>
          </a:p>
          <a:p>
            <a:pPr marL="0" indent="0">
              <a:buNone/>
            </a:pPr>
            <a:r>
              <a:rPr lang="en-US" sz="2400" dirty="0"/>
              <a:t>				      .</a:t>
            </a:r>
            <a:r>
              <a:rPr lang="en-US" sz="2400" dirty="0" err="1"/>
              <a:t>attr</a:t>
            </a:r>
            <a:r>
              <a:rPr lang="en-US" sz="2400" dirty="0"/>
              <a:t>("r", 25)</a:t>
            </a:r>
          </a:p>
          <a:p>
            <a:pPr marL="0" indent="0">
              <a:buNone/>
            </a:pPr>
            <a:r>
              <a:rPr lang="en-US" sz="2400" dirty="0"/>
              <a:t> 				      .style("fill", "purple");</a:t>
            </a:r>
          </a:p>
        </p:txBody>
      </p:sp>
    </p:spTree>
    <p:extLst>
      <p:ext uri="{BB962C8B-B14F-4D97-AF65-F5344CB8AC3E}">
        <p14:creationId xmlns:p14="http://schemas.microsoft.com/office/powerpoint/2010/main" val="2993880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Creating SVG elements based on data</a:t>
            </a:r>
          </a:p>
        </p:txBody>
      </p:sp>
      <p:sp>
        <p:nvSpPr>
          <p:cNvPr id="3" name="Content Placeholder 2"/>
          <p:cNvSpPr>
            <a:spLocks noGrp="1"/>
          </p:cNvSpPr>
          <p:nvPr>
            <p:ph idx="1"/>
          </p:nvPr>
        </p:nvSpPr>
        <p:spPr>
          <a:xfrm>
            <a:off x="755576" y="1844824"/>
            <a:ext cx="8229600" cy="4525963"/>
          </a:xfrm>
        </p:spPr>
        <p:txBody>
          <a:bodyPr>
            <a:normAutofit fontScale="70000" lnSpcReduction="20000"/>
          </a:bodyPr>
          <a:lstStyle/>
          <a:p>
            <a:pPr marL="0" indent="0">
              <a:buNone/>
            </a:pPr>
            <a:r>
              <a:rPr lang="sv-SE" sz="2400" b="1" dirty="0"/>
              <a:t>var</a:t>
            </a:r>
            <a:r>
              <a:rPr lang="sv-SE" sz="2400" dirty="0"/>
              <a:t> circleRadii = [40, 20, 10];</a:t>
            </a:r>
          </a:p>
          <a:p>
            <a:pPr marL="0" indent="0">
              <a:buNone/>
            </a:pPr>
            <a:endParaRPr lang="sv-SE" sz="2400" dirty="0"/>
          </a:p>
          <a:p>
            <a:pPr marL="0" indent="0">
              <a:buNone/>
            </a:pPr>
            <a:r>
              <a:rPr lang="en-US" sz="2400" b="1" dirty="0" err="1"/>
              <a:t>var</a:t>
            </a:r>
            <a:r>
              <a:rPr lang="en-US" sz="2400" dirty="0"/>
              <a:t> circles = </a:t>
            </a:r>
            <a:r>
              <a:rPr lang="en-US" sz="2400" dirty="0" err="1"/>
              <a:t>svgContainer.selectAll</a:t>
            </a:r>
            <a:r>
              <a:rPr lang="en-US" sz="2400" dirty="0"/>
              <a:t>("circle") </a:t>
            </a:r>
          </a:p>
          <a:p>
            <a:pPr marL="0" indent="0">
              <a:buNone/>
            </a:pPr>
            <a:r>
              <a:rPr lang="en-US" sz="2400" dirty="0"/>
              <a:t>	  			.data(</a:t>
            </a:r>
            <a:r>
              <a:rPr lang="en-US" sz="2400" dirty="0" err="1"/>
              <a:t>circleRadii</a:t>
            </a:r>
            <a:r>
              <a:rPr lang="en-US" sz="2400" dirty="0"/>
              <a:t>)</a:t>
            </a:r>
          </a:p>
          <a:p>
            <a:pPr marL="0" indent="0">
              <a:buNone/>
            </a:pPr>
            <a:r>
              <a:rPr lang="en-US" sz="2400" dirty="0"/>
              <a:t>				.enter() </a:t>
            </a:r>
            <a:endParaRPr lang="en-US" sz="2400" b="1" dirty="0"/>
          </a:p>
          <a:p>
            <a:pPr marL="0" indent="0">
              <a:buNone/>
            </a:pPr>
            <a:r>
              <a:rPr lang="en-US" sz="2400" b="1" dirty="0"/>
              <a:t>				</a:t>
            </a:r>
            <a:r>
              <a:rPr lang="en-US" sz="2400" dirty="0"/>
              <a:t>.append("circle");</a:t>
            </a:r>
          </a:p>
          <a:p>
            <a:pPr marL="0" indent="0">
              <a:buNone/>
            </a:pPr>
            <a:endParaRPr lang="en-US" sz="2400" dirty="0"/>
          </a:p>
          <a:p>
            <a:pPr marL="0" indent="0">
              <a:buNone/>
            </a:pPr>
            <a:r>
              <a:rPr lang="en-US" sz="2400" b="1" dirty="0"/>
              <a:t>var</a:t>
            </a:r>
            <a:r>
              <a:rPr lang="en-US" sz="2400" dirty="0"/>
              <a:t> </a:t>
            </a:r>
            <a:r>
              <a:rPr lang="en-US" sz="2400" dirty="0" err="1"/>
              <a:t>circleAttributes</a:t>
            </a:r>
            <a:r>
              <a:rPr lang="en-US" sz="2400" dirty="0"/>
              <a:t> = </a:t>
            </a:r>
            <a:r>
              <a:rPr lang="en-US" sz="2400" dirty="0" err="1"/>
              <a:t>circles.attr</a:t>
            </a:r>
            <a:r>
              <a:rPr lang="en-US" sz="2400" dirty="0"/>
              <a:t>("cx", 50)</a:t>
            </a:r>
          </a:p>
          <a:p>
            <a:pPr marL="0" indent="0">
              <a:buNone/>
            </a:pPr>
            <a:r>
              <a:rPr lang="en-US" sz="2400" dirty="0"/>
              <a:t>			.</a:t>
            </a:r>
            <a:r>
              <a:rPr lang="en-US" sz="2400" dirty="0" err="1"/>
              <a:t>attr</a:t>
            </a:r>
            <a:r>
              <a:rPr lang="en-US" sz="2400" dirty="0"/>
              <a:t>("cy", 50)</a:t>
            </a:r>
          </a:p>
          <a:p>
            <a:pPr marL="0" indent="0">
              <a:buNone/>
            </a:pPr>
            <a:r>
              <a:rPr lang="en-US" sz="2400" dirty="0"/>
              <a:t>			.</a:t>
            </a:r>
            <a:r>
              <a:rPr lang="en-US" sz="2400" dirty="0" err="1"/>
              <a:t>attr</a:t>
            </a:r>
            <a:r>
              <a:rPr lang="en-US" sz="2400" dirty="0"/>
              <a:t>("r", </a:t>
            </a:r>
            <a:r>
              <a:rPr lang="en-US" sz="2400" b="1" dirty="0"/>
              <a:t>function</a:t>
            </a:r>
            <a:r>
              <a:rPr lang="en-US" sz="2400" dirty="0"/>
              <a:t> (d) { </a:t>
            </a:r>
            <a:r>
              <a:rPr lang="en-US" sz="2400" b="1" dirty="0"/>
              <a:t>return</a:t>
            </a:r>
            <a:r>
              <a:rPr lang="en-US" sz="2400" dirty="0"/>
              <a:t> d; })</a:t>
            </a:r>
          </a:p>
          <a:p>
            <a:pPr marL="0" indent="0">
              <a:buNone/>
            </a:pPr>
            <a:r>
              <a:rPr lang="en-US" sz="2400" dirty="0"/>
              <a:t>			.style("fill", </a:t>
            </a:r>
            <a:r>
              <a:rPr lang="en-US" sz="2400" b="1" dirty="0"/>
              <a:t>function</a:t>
            </a:r>
            <a:r>
              <a:rPr lang="en-US" sz="2400" dirty="0"/>
              <a:t>(d) { </a:t>
            </a:r>
          </a:p>
          <a:p>
            <a:pPr marL="0" indent="0">
              <a:buNone/>
            </a:pPr>
            <a:r>
              <a:rPr lang="en-US" sz="2400" b="1" dirty="0"/>
              <a:t>				</a:t>
            </a:r>
            <a:r>
              <a:rPr lang="en-US" sz="2400" b="1" dirty="0" err="1"/>
              <a:t>var</a:t>
            </a:r>
            <a:r>
              <a:rPr lang="en-US" sz="2400" dirty="0"/>
              <a:t> </a:t>
            </a:r>
            <a:r>
              <a:rPr lang="en-US" sz="2400" dirty="0" err="1"/>
              <a:t>returnColor</a:t>
            </a:r>
            <a:r>
              <a:rPr lang="en-US" sz="2400" dirty="0"/>
              <a:t>; </a:t>
            </a:r>
          </a:p>
          <a:p>
            <a:pPr marL="0" indent="0">
              <a:buNone/>
            </a:pPr>
            <a:r>
              <a:rPr lang="en-US" sz="2400" b="1" dirty="0"/>
              <a:t>				if</a:t>
            </a:r>
            <a:r>
              <a:rPr lang="en-US" sz="2400" dirty="0"/>
              <a:t> (d === 40) { </a:t>
            </a:r>
            <a:r>
              <a:rPr lang="en-US" sz="2400" dirty="0" err="1"/>
              <a:t>returnColor</a:t>
            </a:r>
            <a:r>
              <a:rPr lang="en-US" sz="2400" dirty="0"/>
              <a:t> = "green"; 19 } 					</a:t>
            </a:r>
            <a:r>
              <a:rPr lang="en-US" sz="2400" b="1" dirty="0"/>
              <a:t>else</a:t>
            </a:r>
            <a:r>
              <a:rPr lang="en-US" sz="2400" dirty="0"/>
              <a:t> </a:t>
            </a:r>
            <a:r>
              <a:rPr lang="en-US" sz="2400" b="1" dirty="0"/>
              <a:t>if</a:t>
            </a:r>
            <a:r>
              <a:rPr lang="en-US" sz="2400" dirty="0"/>
              <a:t> (d === 20) { </a:t>
            </a:r>
            <a:r>
              <a:rPr lang="en-US" sz="2400" dirty="0" err="1"/>
              <a:t>returnColor</a:t>
            </a:r>
            <a:r>
              <a:rPr lang="en-US" sz="2400" dirty="0"/>
              <a:t> = "purple";}</a:t>
            </a:r>
          </a:p>
          <a:p>
            <a:pPr marL="0" indent="0">
              <a:buNone/>
            </a:pPr>
            <a:r>
              <a:rPr lang="en-US" sz="2400" dirty="0"/>
              <a:t>				 </a:t>
            </a:r>
            <a:r>
              <a:rPr lang="en-US" sz="2400" b="1" dirty="0"/>
              <a:t>else</a:t>
            </a:r>
            <a:r>
              <a:rPr lang="en-US" sz="2400" dirty="0"/>
              <a:t> </a:t>
            </a:r>
            <a:r>
              <a:rPr lang="en-US" sz="2400" b="1" dirty="0"/>
              <a:t>if</a:t>
            </a:r>
            <a:r>
              <a:rPr lang="en-US" sz="2400" dirty="0"/>
              <a:t> (d === 10) { </a:t>
            </a:r>
            <a:r>
              <a:rPr lang="en-US" sz="2400" dirty="0" err="1"/>
              <a:t>returnColor</a:t>
            </a:r>
            <a:r>
              <a:rPr lang="en-US" sz="2400" dirty="0"/>
              <a:t> = "red"; } </a:t>
            </a:r>
          </a:p>
          <a:p>
            <a:pPr marL="0" indent="0">
              <a:buNone/>
            </a:pPr>
            <a:r>
              <a:rPr lang="en-US" sz="2400" b="1" dirty="0"/>
              <a:t>				return</a:t>
            </a:r>
            <a:r>
              <a:rPr lang="en-US" sz="2400" dirty="0"/>
              <a:t> </a:t>
            </a:r>
            <a:r>
              <a:rPr lang="en-US" sz="2400" dirty="0" err="1"/>
              <a:t>returnColor</a:t>
            </a:r>
            <a:r>
              <a:rPr lang="en-US" sz="2400" dirty="0"/>
              <a:t>;  </a:t>
            </a:r>
          </a:p>
          <a:p>
            <a:pPr marL="0" indent="0">
              <a:buNone/>
            </a:pPr>
            <a:r>
              <a:rPr lang="en-US" sz="2400" dirty="0"/>
              <a:t>			           });</a:t>
            </a:r>
          </a:p>
        </p:txBody>
      </p:sp>
      <p:pic>
        <p:nvPicPr>
          <p:cNvPr id="102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r="87584" b="73603"/>
          <a:stretch/>
        </p:blipFill>
        <p:spPr bwMode="auto">
          <a:xfrm>
            <a:off x="7452320" y="1988840"/>
            <a:ext cx="2270720" cy="26148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70993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r>
              <a:rPr lang="sv-SE" dirty="0"/>
              <a:t>var circleRadii = [110, 70, 30];</a:t>
            </a:r>
            <a:endParaRPr lang="en-US" dirty="0"/>
          </a:p>
          <a:p>
            <a:pPr marL="0" indent="0">
              <a:buNone/>
            </a:pPr>
            <a:endParaRPr lang="en-US" b="1" dirty="0"/>
          </a:p>
          <a:p>
            <a:pPr marL="0" indent="0">
              <a:buNone/>
            </a:pPr>
            <a:r>
              <a:rPr lang="en-US" b="1" dirty="0" err="1"/>
              <a:t>var</a:t>
            </a:r>
            <a:r>
              <a:rPr lang="en-US" dirty="0"/>
              <a:t> </a:t>
            </a:r>
            <a:r>
              <a:rPr lang="en-US" dirty="0" err="1"/>
              <a:t>circleAttributes</a:t>
            </a:r>
            <a:r>
              <a:rPr lang="en-US" dirty="0"/>
              <a:t> = circles</a:t>
            </a:r>
          </a:p>
          <a:p>
            <a:pPr marL="914400" lvl="2" indent="0">
              <a:buNone/>
            </a:pPr>
            <a:r>
              <a:rPr lang="en-US" dirty="0"/>
              <a:t>		.</a:t>
            </a:r>
            <a:r>
              <a:rPr lang="en-US" dirty="0" err="1"/>
              <a:t>attr</a:t>
            </a:r>
            <a:r>
              <a:rPr lang="en-US" dirty="0"/>
              <a:t>("cx", </a:t>
            </a:r>
            <a:r>
              <a:rPr lang="en-US" b="1" dirty="0"/>
              <a:t>function</a:t>
            </a:r>
            <a:r>
              <a:rPr lang="en-US" dirty="0"/>
              <a:t> (d) { </a:t>
            </a:r>
            <a:r>
              <a:rPr lang="en-US" b="1" dirty="0"/>
              <a:t>return</a:t>
            </a:r>
            <a:r>
              <a:rPr lang="en-US" dirty="0"/>
              <a:t> d; }) </a:t>
            </a:r>
          </a:p>
          <a:p>
            <a:pPr marL="914400" lvl="2" indent="0">
              <a:buNone/>
            </a:pPr>
            <a:r>
              <a:rPr lang="en-US" dirty="0"/>
              <a:t>		.</a:t>
            </a:r>
            <a:r>
              <a:rPr lang="en-US" dirty="0" err="1"/>
              <a:t>attr</a:t>
            </a:r>
            <a:r>
              <a:rPr lang="en-US" dirty="0"/>
              <a:t>("cy", </a:t>
            </a:r>
            <a:r>
              <a:rPr lang="en-US" b="1" dirty="0"/>
              <a:t>function</a:t>
            </a:r>
            <a:r>
              <a:rPr lang="en-US" dirty="0"/>
              <a:t> (d) { </a:t>
            </a:r>
            <a:r>
              <a:rPr lang="en-US" b="1" dirty="0"/>
              <a:t>return</a:t>
            </a:r>
            <a:r>
              <a:rPr lang="en-US" dirty="0"/>
              <a:t> d; }) </a:t>
            </a:r>
          </a:p>
          <a:p>
            <a:pPr marL="914400" lvl="2" indent="0">
              <a:buNone/>
            </a:pPr>
            <a:r>
              <a:rPr lang="en-US" dirty="0"/>
              <a:t>		.</a:t>
            </a:r>
            <a:r>
              <a:rPr lang="en-US" dirty="0" err="1"/>
              <a:t>attr</a:t>
            </a:r>
            <a:r>
              <a:rPr lang="en-US" dirty="0"/>
              <a:t>("r", 20 ) </a:t>
            </a:r>
          </a:p>
          <a:p>
            <a:pPr marL="914400" lvl="2" indent="0">
              <a:buNone/>
            </a:pPr>
            <a:r>
              <a:rPr lang="en-US" dirty="0"/>
              <a:t>		.style("fill", </a:t>
            </a:r>
            <a:r>
              <a:rPr lang="en-US" b="1" dirty="0"/>
              <a:t>function</a:t>
            </a:r>
            <a:r>
              <a:rPr lang="en-US" dirty="0"/>
              <a:t>(d) { </a:t>
            </a:r>
          </a:p>
          <a:p>
            <a:pPr marL="914400" lvl="2" indent="0">
              <a:buNone/>
            </a:pPr>
            <a:r>
              <a:rPr lang="en-US" b="1" dirty="0"/>
              <a:t>		     </a:t>
            </a:r>
            <a:r>
              <a:rPr lang="en-US" b="1" dirty="0" err="1"/>
              <a:t>var</a:t>
            </a:r>
            <a:r>
              <a:rPr lang="en-US" dirty="0"/>
              <a:t> </a:t>
            </a:r>
            <a:r>
              <a:rPr lang="en-US" dirty="0" err="1"/>
              <a:t>returnColor</a:t>
            </a:r>
            <a:r>
              <a:rPr lang="en-US" dirty="0"/>
              <a:t>; </a:t>
            </a:r>
          </a:p>
          <a:p>
            <a:pPr marL="914400" lvl="2" indent="0">
              <a:buNone/>
            </a:pPr>
            <a:r>
              <a:rPr lang="en-US" b="1" dirty="0"/>
              <a:t>		     if</a:t>
            </a:r>
            <a:r>
              <a:rPr lang="en-US" dirty="0"/>
              <a:t> (d === 30) { </a:t>
            </a:r>
            <a:r>
              <a:rPr lang="en-US" dirty="0" err="1"/>
              <a:t>returnColor</a:t>
            </a:r>
            <a:r>
              <a:rPr lang="en-US" dirty="0"/>
              <a:t> = "green"; </a:t>
            </a:r>
          </a:p>
          <a:p>
            <a:pPr marL="914400" lvl="2" indent="0">
              <a:buNone/>
            </a:pPr>
            <a:r>
              <a:rPr lang="en-US" dirty="0"/>
              <a:t>		     } </a:t>
            </a:r>
            <a:r>
              <a:rPr lang="en-US" b="1" dirty="0"/>
              <a:t>else</a:t>
            </a:r>
            <a:r>
              <a:rPr lang="en-US" dirty="0"/>
              <a:t> </a:t>
            </a:r>
            <a:r>
              <a:rPr lang="en-US" b="1" dirty="0"/>
              <a:t>if</a:t>
            </a:r>
            <a:r>
              <a:rPr lang="en-US" dirty="0"/>
              <a:t> (d === 70) { </a:t>
            </a:r>
            <a:r>
              <a:rPr lang="en-US" dirty="0" err="1"/>
              <a:t>returnColor</a:t>
            </a:r>
            <a:r>
              <a:rPr lang="en-US" dirty="0"/>
              <a:t> = "purple";  </a:t>
            </a:r>
          </a:p>
          <a:p>
            <a:pPr marL="914400" lvl="2" indent="0">
              <a:buNone/>
            </a:pPr>
            <a:r>
              <a:rPr lang="en-US" dirty="0"/>
              <a:t>		     } </a:t>
            </a:r>
            <a:r>
              <a:rPr lang="en-US" b="1" dirty="0"/>
              <a:t>else</a:t>
            </a:r>
            <a:r>
              <a:rPr lang="en-US" dirty="0"/>
              <a:t> </a:t>
            </a:r>
            <a:r>
              <a:rPr lang="en-US" b="1" dirty="0"/>
              <a:t>if</a:t>
            </a:r>
            <a:r>
              <a:rPr lang="en-US" dirty="0"/>
              <a:t> (d === 110) { </a:t>
            </a:r>
            <a:r>
              <a:rPr lang="en-US" dirty="0" err="1"/>
              <a:t>returnColor</a:t>
            </a:r>
            <a:r>
              <a:rPr lang="en-US" dirty="0"/>
              <a:t> = "red"; }</a:t>
            </a:r>
          </a:p>
          <a:p>
            <a:pPr marL="914400" lvl="2" indent="0">
              <a:buNone/>
            </a:pPr>
            <a:r>
              <a:rPr lang="en-US" b="1" dirty="0"/>
              <a:t>		     return</a:t>
            </a:r>
            <a:r>
              <a:rPr lang="en-US" dirty="0"/>
              <a:t> </a:t>
            </a:r>
            <a:r>
              <a:rPr lang="en-US" dirty="0" err="1"/>
              <a:t>returnColor</a:t>
            </a:r>
            <a:r>
              <a:rPr lang="en-US" dirty="0"/>
              <a:t>; </a:t>
            </a:r>
          </a:p>
          <a:p>
            <a:pPr marL="914400" lvl="2" indent="0">
              <a:buNone/>
            </a:pPr>
            <a:r>
              <a:rPr lang="en-US" dirty="0"/>
              <a:t>		});</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0823" b="62523"/>
          <a:stretch/>
        </p:blipFill>
        <p:spPr bwMode="auto">
          <a:xfrm>
            <a:off x="7164288" y="116632"/>
            <a:ext cx="3507128" cy="37124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460384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a:t>
            </a:r>
          </a:p>
        </p:txBody>
      </p:sp>
      <p:sp>
        <p:nvSpPr>
          <p:cNvPr id="3" name="Content Placeholder 2"/>
          <p:cNvSpPr>
            <a:spLocks noGrp="1"/>
          </p:cNvSpPr>
          <p:nvPr>
            <p:ph idx="1"/>
          </p:nvPr>
        </p:nvSpPr>
        <p:spPr/>
        <p:txBody>
          <a:bodyPr>
            <a:normAutofit lnSpcReduction="10000"/>
          </a:bodyPr>
          <a:lstStyle/>
          <a:p>
            <a:r>
              <a:rPr lang="en-US" dirty="0" err="1"/>
              <a:t>javaScript</a:t>
            </a:r>
            <a:r>
              <a:rPr lang="en-US" dirty="0"/>
              <a:t> is a loosely typed language. No need to specify the type of the variable.</a:t>
            </a:r>
          </a:p>
          <a:p>
            <a:pPr marL="0" indent="0">
              <a:buNone/>
            </a:pPr>
            <a:r>
              <a:rPr lang="en-US" dirty="0" err="1"/>
              <a:t>var</a:t>
            </a:r>
            <a:r>
              <a:rPr lang="en-US" dirty="0"/>
              <a:t> value = 100;</a:t>
            </a:r>
          </a:p>
          <a:p>
            <a:pPr marL="0" indent="0">
              <a:buNone/>
            </a:pPr>
            <a:r>
              <a:rPr lang="en-US" dirty="0"/>
              <a:t>value = 99.99</a:t>
            </a:r>
          </a:p>
          <a:p>
            <a:pPr marL="0" indent="0">
              <a:buNone/>
            </a:pPr>
            <a:r>
              <a:rPr lang="en-US" dirty="0"/>
              <a:t>value = false</a:t>
            </a:r>
          </a:p>
          <a:p>
            <a:pPr marL="0" indent="0">
              <a:buNone/>
            </a:pPr>
            <a:r>
              <a:rPr lang="en-US" dirty="0"/>
              <a:t>value = “this is a text”</a:t>
            </a:r>
          </a:p>
          <a:p>
            <a:pPr marL="0" indent="0">
              <a:buNone/>
            </a:pPr>
            <a:r>
              <a:rPr lang="en-US" dirty="0"/>
              <a:t>value = {1,2,3,4,5}</a:t>
            </a:r>
          </a:p>
          <a:p>
            <a:pPr marL="0" indent="0">
              <a:buNone/>
            </a:pPr>
            <a:r>
              <a:rPr lang="en-US" dirty="0"/>
              <a:t>console.log (value[2])</a:t>
            </a:r>
          </a:p>
          <a:p>
            <a:pPr marL="0" indent="0">
              <a:buNone/>
            </a:pPr>
            <a:endParaRPr lang="en-US" dirty="0"/>
          </a:p>
        </p:txBody>
      </p:sp>
      <p:sp>
        <p:nvSpPr>
          <p:cNvPr id="4" name="Rectangle 1"/>
          <p:cNvSpPr>
            <a:spLocks noChangeArrowheads="1"/>
          </p:cNvSpPr>
          <p:nvPr/>
        </p:nvSpPr>
        <p:spPr bwMode="auto">
          <a:xfrm>
            <a:off x="0" y="0"/>
            <a:ext cx="9144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88"/>
                </a:solidFill>
                <a:effectLst/>
                <a:latin typeface="Courier New" panose="02070309020205020404" pitchFamily="49" charset="0"/>
              </a:rPr>
              <a:t>console.log(numbers[i])</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Rectangle 2"/>
          <p:cNvSpPr>
            <a:spLocks noChangeArrowheads="1"/>
          </p:cNvSpPr>
          <p:nvPr/>
        </p:nvSpPr>
        <p:spPr bwMode="auto">
          <a:xfrm>
            <a:off x="152400" y="152400"/>
            <a:ext cx="9144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88"/>
                </a:solidFill>
                <a:effectLst/>
                <a:latin typeface="Courier New" panose="02070309020205020404" pitchFamily="49" charset="0"/>
                <a:cs typeface="Courier New" panose="02070309020205020404" pitchFamily="49" charset="0"/>
              </a:rPr>
              <a:t>console.log(numbers[i])</a:t>
            </a:r>
            <a:r>
              <a:rPr kumimoji="0" lang="en-US" altLang="en-US" sz="6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7030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cs typeface="Arial" pitchFamily="34" charset="0"/>
              </a:rPr>
              <a:t>Functional Variables</a:t>
            </a:r>
            <a:endParaRPr lang="en-GB" dirty="0">
              <a:cs typeface="Arial" pitchFamily="34" charset="0"/>
            </a:endParaRPr>
          </a:p>
        </p:txBody>
      </p:sp>
      <p:pic>
        <p:nvPicPr>
          <p:cNvPr id="4" name="Picture 3" descr="Screen shot 2011-10-15 at 6.13.47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670281"/>
            <a:ext cx="7137400" cy="2705100"/>
          </a:xfrm>
          <a:prstGeom prst="rect">
            <a:avLst/>
          </a:prstGeom>
        </p:spPr>
      </p:pic>
    </p:spTree>
    <p:extLst>
      <p:ext uri="{BB962C8B-B14F-4D97-AF65-F5344CB8AC3E}">
        <p14:creationId xmlns:p14="http://schemas.microsoft.com/office/powerpoint/2010/main" val="2161082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Animation</a:t>
            </a:r>
          </a:p>
        </p:txBody>
      </p:sp>
      <p:sp>
        <p:nvSpPr>
          <p:cNvPr id="3" name="Content Placeholder 2"/>
          <p:cNvSpPr>
            <a:spLocks noGrp="1"/>
          </p:cNvSpPr>
          <p:nvPr>
            <p:ph idx="1"/>
          </p:nvPr>
        </p:nvSpPr>
        <p:spPr/>
        <p:txBody>
          <a:bodyPr/>
          <a:lstStyle/>
          <a:p>
            <a:pPr marL="0" indent="0">
              <a:buNone/>
            </a:pPr>
            <a:r>
              <a:rPr lang="en-US" dirty="0"/>
              <a:t>.on(“.</a:t>
            </a:r>
            <a:r>
              <a:rPr lang="en-US" dirty="0" err="1"/>
              <a:t>mouseover</a:t>
            </a:r>
            <a:r>
              <a:rPr lang="en-US" dirty="0"/>
              <a:t>”, function () 	{d3.select.(this).style(“</a:t>
            </a:r>
            <a:r>
              <a:rPr lang="en-US" dirty="0" err="1"/>
              <a:t>fill”,”blue</a:t>
            </a:r>
            <a:r>
              <a:rPr lang="en-US" dirty="0"/>
              <a:t>”)</a:t>
            </a:r>
          </a:p>
          <a:p>
            <a:pPr marL="0" indent="0">
              <a:buNone/>
            </a:pPr>
            <a:endParaRPr lang="en-US" dirty="0"/>
          </a:p>
          <a:p>
            <a:pPr marL="0" indent="0">
              <a:buNone/>
            </a:pPr>
            <a:r>
              <a:rPr lang="en-US" dirty="0"/>
              <a:t>.transition().delay(100).duration(1000)</a:t>
            </a:r>
          </a:p>
          <a:p>
            <a:pPr marL="0" indent="0">
              <a:buNone/>
            </a:pPr>
            <a:endParaRPr lang="en-US" dirty="0"/>
          </a:p>
          <a:p>
            <a:pPr marL="0" indent="0">
              <a:buNone/>
            </a:pPr>
            <a:r>
              <a:rPr lang="en-US" dirty="0"/>
              <a:t>See animation example:</a:t>
            </a:r>
          </a:p>
          <a:p>
            <a:pPr marL="0" indent="0">
              <a:buNone/>
            </a:pPr>
            <a:r>
              <a:rPr lang="en-US" dirty="0">
                <a:hlinkClick r:id="rId2"/>
              </a:rPr>
              <a:t>http://christopheviau.com/d3_tutorial/</a:t>
            </a:r>
            <a:endParaRPr lang="en-US" dirty="0"/>
          </a:p>
        </p:txBody>
      </p:sp>
    </p:spTree>
    <p:extLst>
      <p:ext uri="{BB962C8B-B14F-4D97-AF65-F5344CB8AC3E}">
        <p14:creationId xmlns:p14="http://schemas.microsoft.com/office/powerpoint/2010/main" val="2891837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Objects</a:t>
            </a:r>
          </a:p>
        </p:txBody>
      </p:sp>
      <p:sp>
        <p:nvSpPr>
          <p:cNvPr id="4" name="Rectangle 1"/>
          <p:cNvSpPr>
            <a:spLocks noGrp="1" noChangeArrowheads="1"/>
          </p:cNvSpPr>
          <p:nvPr>
            <p:ph idx="1"/>
          </p:nvPr>
        </p:nvSpPr>
        <p:spPr bwMode="auto">
          <a:xfrm>
            <a:off x="179512" y="1417638"/>
            <a:ext cx="3693319" cy="1846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000088"/>
                </a:solidFill>
                <a:effectLst/>
                <a:cs typeface="Courier New" panose="02070309020205020404" pitchFamily="49" charset="0"/>
              </a:rPr>
              <a:t>var</a:t>
            </a:r>
            <a:r>
              <a:rPr kumimoji="0" lang="en-US" altLang="en-US" sz="2000" b="0" i="0" u="none" strike="noStrike" cap="none" normalizeH="0" baseline="0" dirty="0">
                <a:ln>
                  <a:noFill/>
                </a:ln>
                <a:solidFill>
                  <a:srgbClr val="000088"/>
                </a:solidFill>
                <a:effectLst/>
                <a:cs typeface="Courier New" panose="02070309020205020404" pitchFamily="49" charset="0"/>
              </a:rPr>
              <a:t> fruit = { kind: "grape",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a:t>
            </a:r>
            <a:r>
              <a:rPr kumimoji="0" lang="en-US" altLang="en-US" sz="2000" b="0" i="0" u="none" strike="noStrike" cap="none" normalizeH="0" baseline="0" dirty="0">
                <a:ln>
                  <a:noFill/>
                </a:ln>
                <a:solidFill>
                  <a:srgbClr val="000088"/>
                </a:solidFill>
                <a:effectLst/>
                <a:cs typeface="Courier New" panose="02070309020205020404" pitchFamily="49" charset="0"/>
              </a:rPr>
              <a:t>color: "red",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a:t>
            </a:r>
            <a:r>
              <a:rPr kumimoji="0" lang="en-US" altLang="en-US" sz="2000" b="0" i="0" u="none" strike="noStrike" cap="none" normalizeH="0" baseline="0" dirty="0">
                <a:ln>
                  <a:noFill/>
                </a:ln>
                <a:solidFill>
                  <a:srgbClr val="000088"/>
                </a:solidFill>
                <a:effectLst/>
                <a:cs typeface="Courier New" panose="02070309020205020404" pitchFamily="49" charset="0"/>
              </a:rPr>
              <a:t>quantity: 12,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a:t>
            </a:r>
            <a:r>
              <a:rPr kumimoji="0" lang="en-US" altLang="en-US" sz="2000" b="0" i="0" u="none" strike="noStrike" cap="none" normalizeH="0" baseline="0" dirty="0">
                <a:ln>
                  <a:noFill/>
                </a:ln>
                <a:solidFill>
                  <a:srgbClr val="000088"/>
                </a:solidFill>
                <a:effectLst/>
                <a:cs typeface="Courier New" panose="02070309020205020404" pitchFamily="49" charset="0"/>
              </a:rPr>
              <a:t>tasty: true };</a:t>
            </a: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err="1"/>
              <a:t>fruit.kind</a:t>
            </a:r>
            <a:r>
              <a:rPr lang="en-US" altLang="en-US" sz="2000" dirty="0"/>
              <a:t> – returns grape</a:t>
            </a:r>
            <a:endParaRPr kumimoji="0" lang="en-US" altLang="en-US" sz="2000" b="0" i="0" u="none" strike="noStrike" cap="none" normalizeH="0" baseline="0" dirty="0">
              <a:ln>
                <a:noFill/>
              </a:ln>
              <a:solidFill>
                <a:schemeClr val="tx1"/>
              </a:solidFill>
              <a:effectLst/>
            </a:endParaRPr>
          </a:p>
        </p:txBody>
      </p:sp>
      <p:sp>
        <p:nvSpPr>
          <p:cNvPr id="5" name="Rectangle 1"/>
          <p:cNvSpPr txBox="1">
            <a:spLocks noChangeArrowheads="1"/>
          </p:cNvSpPr>
          <p:nvPr/>
        </p:nvSpPr>
        <p:spPr bwMode="auto">
          <a:xfrm>
            <a:off x="9044646" y="4115008"/>
            <a:ext cx="65"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rtlCol="0" anchor="ctr" anchorCtr="0" compatLnSpc="1">
            <a:prstTxWarp prst="textNoShape">
              <a:avLst/>
            </a:prstTxWarp>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0" fontAlgn="base" hangingPunct="0">
              <a:spcBef>
                <a:spcPct val="0"/>
              </a:spcBef>
              <a:spcAft>
                <a:spcPct val="0"/>
              </a:spcAft>
              <a:buFontTx/>
              <a:buNone/>
            </a:pPr>
            <a:endParaRPr lang="en-US" altLang="en-US" sz="2000" dirty="0"/>
          </a:p>
        </p:txBody>
      </p:sp>
      <p:sp>
        <p:nvSpPr>
          <p:cNvPr id="6" name="Rectangle 2"/>
          <p:cNvSpPr>
            <a:spLocks noChangeArrowheads="1"/>
          </p:cNvSpPr>
          <p:nvPr/>
        </p:nvSpPr>
        <p:spPr bwMode="auto">
          <a:xfrm>
            <a:off x="5148064" y="1064904"/>
            <a:ext cx="4104456" cy="43088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err="1">
                <a:solidFill>
                  <a:srgbClr val="000088"/>
                </a:solidFill>
                <a:cs typeface="Courier New" panose="02070309020205020404" pitchFamily="49" charset="0"/>
              </a:rPr>
              <a:t>var</a:t>
            </a:r>
            <a:r>
              <a:rPr lang="en-US" altLang="en-US" sz="2000" dirty="0">
                <a:solidFill>
                  <a:srgbClr val="000088"/>
                </a:solidFill>
                <a:cs typeface="Courier New" panose="02070309020205020404" pitchFamily="49" charset="0"/>
              </a:rPr>
              <a:t> fruits = [ { kind: "grape",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color: "red",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quantity: 12,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tasty: true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 kind: "kiwi",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color: "brown",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quantity: 98,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tasty: true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 kind: "banana",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color: "yellow",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quantity: 0,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	tasty: true }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rgbClr val="000088"/>
              </a:solidFill>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solidFill>
                  <a:srgbClr val="000088"/>
                </a:solidFill>
                <a:cs typeface="Courier New" panose="02070309020205020404" pitchFamily="49" charset="0"/>
              </a:rPr>
              <a:t>Fruit[1].kind – returns “kiwi”</a:t>
            </a:r>
          </a:p>
        </p:txBody>
      </p:sp>
    </p:spTree>
    <p:extLst>
      <p:ext uri="{BB962C8B-B14F-4D97-AF65-F5344CB8AC3E}">
        <p14:creationId xmlns:p14="http://schemas.microsoft.com/office/powerpoint/2010/main" val="7641123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Data structures in D3</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6414314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JSON</a:t>
            </a:r>
          </a:p>
        </p:txBody>
      </p:sp>
      <p:sp>
        <p:nvSpPr>
          <p:cNvPr id="3" name="Content Placeholder 2"/>
          <p:cNvSpPr>
            <a:spLocks noGrp="1"/>
          </p:cNvSpPr>
          <p:nvPr>
            <p:ph idx="1"/>
          </p:nvPr>
        </p:nvSpPr>
        <p:spPr/>
        <p:txBody>
          <a:bodyPr/>
          <a:lstStyle/>
          <a:p>
            <a:r>
              <a:rPr lang="en-US" dirty="0"/>
              <a:t>JavaScript Object Notation</a:t>
            </a:r>
          </a:p>
          <a:p>
            <a:r>
              <a:rPr lang="en-US" dirty="0"/>
              <a:t>Open standard file format that uses standard text to store and transmit data. </a:t>
            </a:r>
          </a:p>
          <a:p>
            <a:r>
              <a:rPr lang="en-US" dirty="0"/>
              <a:t>Very common and is often used instead of XML or CSV</a:t>
            </a:r>
          </a:p>
          <a:p>
            <a:r>
              <a:rPr lang="en-US" dirty="0"/>
              <a:t>Independent of JavaScript</a:t>
            </a:r>
          </a:p>
          <a:p>
            <a:r>
              <a:rPr lang="en-US" dirty="0"/>
              <a:t>Almost all programming language include support for parsing and using JSON</a:t>
            </a:r>
          </a:p>
        </p:txBody>
      </p:sp>
    </p:spTree>
    <p:extLst>
      <p:ext uri="{BB962C8B-B14F-4D97-AF65-F5344CB8AC3E}">
        <p14:creationId xmlns:p14="http://schemas.microsoft.com/office/powerpoint/2010/main" val="5417911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JSON</a:t>
            </a:r>
          </a:p>
        </p:txBody>
      </p:sp>
      <p:sp>
        <p:nvSpPr>
          <p:cNvPr id="5" name="Rectangle 2"/>
          <p:cNvSpPr>
            <a:spLocks noGrp="1" noChangeArrowheads="1"/>
          </p:cNvSpPr>
          <p:nvPr>
            <p:ph idx="1"/>
          </p:nvPr>
        </p:nvSpPr>
        <p:spPr bwMode="auto">
          <a:xfrm>
            <a:off x="452265" y="1484784"/>
            <a:ext cx="8075239" cy="526297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1" i="0" u="none" strike="noStrike" cap="none" normalizeH="0" baseline="0" dirty="0" err="1">
                <a:ln>
                  <a:noFill/>
                </a:ln>
                <a:solidFill>
                  <a:srgbClr val="008000"/>
                </a:solidFill>
                <a:effectLst/>
                <a:cs typeface="Courier New" panose="02070309020205020404" pitchFamily="49" charset="0"/>
              </a:rPr>
              <a:t>firstName</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BA2121"/>
                </a:solidFill>
                <a:effectLst/>
                <a:cs typeface="Courier New" panose="02070309020205020404" pitchFamily="49" charset="0"/>
              </a:rPr>
              <a:t>"John"</a:t>
            </a:r>
            <a:r>
              <a:rPr kumimoji="0" lang="en-US" altLang="en-US" sz="2400" b="0" i="0" u="none" strike="noStrike" cap="none" normalizeH="0" baseline="0" dirty="0">
                <a:ln>
                  <a:noFill/>
                </a:ln>
                <a:solidFill>
                  <a:srgbClr val="000000"/>
                </a:solidFill>
                <a:effectLst/>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1" i="0" u="none" strike="noStrike" cap="none" normalizeH="0" baseline="0" dirty="0" err="1">
                <a:ln>
                  <a:noFill/>
                </a:ln>
                <a:solidFill>
                  <a:srgbClr val="008000"/>
                </a:solidFill>
                <a:effectLst/>
                <a:cs typeface="Courier New" panose="02070309020205020404" pitchFamily="49" charset="0"/>
              </a:rPr>
              <a:t>lastName</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BA2121"/>
                </a:solidFill>
                <a:effectLst/>
                <a:cs typeface="Courier New" panose="02070309020205020404" pitchFamily="49" charset="0"/>
              </a:rPr>
              <a:t>"Smith"</a:t>
            </a:r>
            <a:r>
              <a:rPr kumimoji="0" lang="en-US" altLang="en-US" sz="2400" b="0" i="0" u="none" strike="noStrike" cap="none" normalizeH="0" baseline="0" dirty="0">
                <a:ln>
                  <a:noFill/>
                </a:ln>
                <a:solidFill>
                  <a:srgbClr val="000000"/>
                </a:solidFill>
                <a:effectLst/>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1" i="0" u="none" strike="noStrike" cap="none" normalizeH="0" baseline="0" dirty="0" err="1">
                <a:ln>
                  <a:noFill/>
                </a:ln>
                <a:solidFill>
                  <a:srgbClr val="008000"/>
                </a:solidFill>
                <a:effectLst/>
                <a:cs typeface="Courier New" panose="02070309020205020404" pitchFamily="49" charset="0"/>
              </a:rPr>
              <a:t>isAlive</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1" i="0" u="none" strike="noStrike" cap="none" normalizeH="0" baseline="0" dirty="0">
                <a:ln>
                  <a:noFill/>
                </a:ln>
                <a:solidFill>
                  <a:srgbClr val="008000"/>
                </a:solidFill>
                <a:effectLst/>
                <a:cs typeface="Courier New" panose="02070309020205020404" pitchFamily="49" charset="0"/>
              </a:rPr>
              <a:t>true</a:t>
            </a:r>
            <a:r>
              <a:rPr kumimoji="0" lang="en-US" altLang="en-US" sz="2400" b="0" i="0" u="none" strike="noStrike" cap="none" normalizeH="0" baseline="0" dirty="0">
                <a:ln>
                  <a:noFill/>
                </a:ln>
                <a:solidFill>
                  <a:srgbClr val="000000"/>
                </a:solidFill>
                <a:effectLst/>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8000"/>
                </a:solidFill>
                <a:effectLst/>
                <a:cs typeface="Courier New" panose="02070309020205020404" pitchFamily="49" charset="0"/>
              </a:rPr>
              <a:t>"age"</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666666"/>
                </a:solidFill>
                <a:effectLst/>
                <a:cs typeface="Courier New" panose="02070309020205020404" pitchFamily="49" charset="0"/>
              </a:rPr>
              <a:t>27</a:t>
            </a:r>
            <a:r>
              <a:rPr kumimoji="0" lang="en-US" altLang="en-US" sz="2400" b="0" i="0" u="none" strike="noStrike" cap="none" normalizeH="0" baseline="0" dirty="0">
                <a:ln>
                  <a:noFill/>
                </a:ln>
                <a:solidFill>
                  <a:srgbClr val="000000"/>
                </a:solidFill>
                <a:effectLst/>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8000"/>
                </a:solidFill>
                <a:effectLst/>
                <a:cs typeface="Courier New" panose="02070309020205020404" pitchFamily="49" charset="0"/>
              </a:rPr>
              <a:t>"address"</a:t>
            </a:r>
            <a:r>
              <a:rPr kumimoji="0" lang="en-US" altLang="en-US" sz="2400" b="0" i="0" u="none" strike="noStrike" cap="none" normalizeH="0" baseline="0" dirty="0">
                <a:ln>
                  <a:noFill/>
                </a:ln>
                <a:solidFill>
                  <a:srgbClr val="000000"/>
                </a:solidFill>
                <a:effectLst/>
                <a:cs typeface="Courier New" panose="02070309020205020404" pitchFamily="49" charset="0"/>
              </a:rPr>
              <a:t>: { </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1" i="0" u="none" strike="noStrike" cap="none" normalizeH="0" baseline="0" dirty="0" err="1">
                <a:ln>
                  <a:noFill/>
                </a:ln>
                <a:solidFill>
                  <a:srgbClr val="008000"/>
                </a:solidFill>
                <a:effectLst/>
                <a:cs typeface="Courier New" panose="02070309020205020404" pitchFamily="49" charset="0"/>
              </a:rPr>
              <a:t>streetAddress</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BA2121"/>
                </a:solidFill>
                <a:effectLst/>
                <a:cs typeface="Courier New" panose="02070309020205020404" pitchFamily="49" charset="0"/>
              </a:rPr>
              <a:t>"21 2nd Street"</a:t>
            </a:r>
            <a:r>
              <a:rPr kumimoji="0" lang="en-US" altLang="en-US" sz="2400" b="0" i="0" u="none" strike="noStrike" cap="none" normalizeH="0" baseline="0" dirty="0">
                <a:ln>
                  <a:noFill/>
                </a:ln>
                <a:solidFill>
                  <a:srgbClr val="000000"/>
                </a:solidFill>
                <a:effectLst/>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00000"/>
                </a:solidFill>
                <a:cs typeface="Courier New" panose="02070309020205020404" pitchFamily="49" charset="0"/>
              </a:rPr>
              <a:t>		</a:t>
            </a:r>
            <a:r>
              <a:rPr kumimoji="0" lang="en-US" altLang="en-US" sz="2400" b="1" i="0" u="none" strike="noStrike" cap="none" normalizeH="0" baseline="0" dirty="0">
                <a:ln>
                  <a:noFill/>
                </a:ln>
                <a:solidFill>
                  <a:srgbClr val="008000"/>
                </a:solidFill>
                <a:effectLst/>
                <a:cs typeface="Courier New" panose="02070309020205020404" pitchFamily="49" charset="0"/>
              </a:rPr>
              <a:t>"city"</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BA2121"/>
                </a:solidFill>
                <a:effectLst/>
                <a:cs typeface="Courier New" panose="02070309020205020404" pitchFamily="49" charset="0"/>
              </a:rPr>
              <a:t>"New York"</a:t>
            </a:r>
            <a:r>
              <a:rPr kumimoji="0" lang="en-US" altLang="en-US" sz="2400" b="0" i="0" u="none" strike="noStrike" cap="none" normalizeH="0" baseline="0" dirty="0">
                <a:ln>
                  <a:noFill/>
                </a:ln>
                <a:solidFill>
                  <a:srgbClr val="000000"/>
                </a:solidFill>
                <a:effectLst/>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00000"/>
                </a:solidFill>
                <a:cs typeface="Courier New" panose="02070309020205020404" pitchFamily="49" charset="0"/>
              </a:rPr>
              <a:t>		</a:t>
            </a:r>
            <a:r>
              <a:rPr kumimoji="0" lang="en-US" altLang="en-US" sz="2400" b="1" i="0" u="none" strike="noStrike" cap="none" normalizeH="0" baseline="0" dirty="0">
                <a:ln>
                  <a:noFill/>
                </a:ln>
                <a:solidFill>
                  <a:srgbClr val="008000"/>
                </a:solidFill>
                <a:effectLst/>
                <a:cs typeface="Courier New" panose="02070309020205020404" pitchFamily="49" charset="0"/>
              </a:rPr>
              <a:t>"state"</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BA2121"/>
                </a:solidFill>
                <a:effectLst/>
                <a:cs typeface="Courier New" panose="02070309020205020404" pitchFamily="49" charset="0"/>
              </a:rPr>
              <a:t>"NY"</a:t>
            </a:r>
            <a:r>
              <a:rPr kumimoji="0" lang="en-US" altLang="en-US" sz="2400" b="0" i="0" u="none" strike="noStrike" cap="none" normalizeH="0" baseline="0" dirty="0">
                <a:ln>
                  <a:noFill/>
                </a:ln>
                <a:solidFill>
                  <a:srgbClr val="000000"/>
                </a:solidFill>
                <a:effectLst/>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00000"/>
                </a:solidFill>
                <a:cs typeface="Courier New" panose="02070309020205020404" pitchFamily="49" charset="0"/>
              </a:rPr>
              <a:t>		</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1" i="0" u="none" strike="noStrike" cap="none" normalizeH="0" baseline="0" dirty="0" err="1">
                <a:ln>
                  <a:noFill/>
                </a:ln>
                <a:solidFill>
                  <a:srgbClr val="008000"/>
                </a:solidFill>
                <a:effectLst/>
                <a:cs typeface="Courier New" panose="02070309020205020404" pitchFamily="49" charset="0"/>
              </a:rPr>
              <a:t>postalCode</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BA2121"/>
                </a:solidFill>
                <a:effectLst/>
                <a:cs typeface="Courier New" panose="02070309020205020404" pitchFamily="49" charset="0"/>
              </a:rPr>
              <a:t>"10021-3100"</a:t>
            </a:r>
            <a:r>
              <a:rPr kumimoji="0" lang="en-US" altLang="en-US" sz="2400" b="0" i="0" u="none" strike="noStrike" cap="none" normalizeH="0" baseline="0" dirty="0">
                <a:ln>
                  <a:noFill/>
                </a:ln>
                <a:solidFill>
                  <a:srgbClr val="000000"/>
                </a:solidFill>
                <a:effectLst/>
                <a:cs typeface="Courier New" panose="02070309020205020404" pitchFamily="49" charset="0"/>
              </a:rPr>
              <a:t> }, </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1" i="0" u="none" strike="noStrike" cap="none" normalizeH="0" baseline="0" dirty="0" err="1">
                <a:ln>
                  <a:noFill/>
                </a:ln>
                <a:solidFill>
                  <a:srgbClr val="008000"/>
                </a:solidFill>
                <a:effectLst/>
                <a:cs typeface="Courier New" panose="02070309020205020404" pitchFamily="49" charset="0"/>
              </a:rPr>
              <a:t>phoneNumbers</a:t>
            </a:r>
            <a:r>
              <a:rPr kumimoji="0" lang="en-US" altLang="en-US" sz="2400" b="1" i="0" u="none" strike="noStrike" cap="none" normalizeH="0" baseline="0" dirty="0">
                <a:ln>
                  <a:noFill/>
                </a:ln>
                <a:solidFill>
                  <a:srgbClr val="008000"/>
                </a:solidFill>
                <a:effectLst/>
                <a:cs typeface="Courier New" panose="02070309020205020404" pitchFamily="49" charset="0"/>
              </a:rPr>
              <a:t>"</a:t>
            </a:r>
            <a:r>
              <a:rPr kumimoji="0" lang="en-US" altLang="en-US" sz="2400" b="0" i="0" u="none" strike="noStrike" cap="none" normalizeH="0" baseline="0" dirty="0">
                <a:ln>
                  <a:noFill/>
                </a:ln>
                <a:solidFill>
                  <a:srgbClr val="000000"/>
                </a:solidFill>
                <a:effectLst/>
                <a:cs typeface="Courier New" panose="02070309020205020404" pitchFamily="49" charset="0"/>
              </a:rPr>
              <a:t>: [ { </a:t>
            </a:r>
            <a:r>
              <a:rPr kumimoji="0" lang="en-US" altLang="en-US" sz="2400" b="1" i="0" u="none" strike="noStrike" cap="none" normalizeH="0" baseline="0" dirty="0">
                <a:ln>
                  <a:noFill/>
                </a:ln>
                <a:solidFill>
                  <a:srgbClr val="008000"/>
                </a:solidFill>
                <a:effectLst/>
                <a:cs typeface="Courier New" panose="02070309020205020404" pitchFamily="49" charset="0"/>
              </a:rPr>
              <a:t>"type"</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BA2121"/>
                </a:solidFill>
                <a:effectLst/>
                <a:cs typeface="Courier New" panose="02070309020205020404" pitchFamily="49" charset="0"/>
              </a:rPr>
              <a:t>"home"</a:t>
            </a:r>
            <a:r>
              <a:rPr kumimoji="0" lang="en-US" altLang="en-US" sz="2400" b="0" i="0" u="none" strike="noStrike" cap="none" normalizeH="0" baseline="0" dirty="0">
                <a:ln>
                  <a:noFill/>
                </a:ln>
                <a:solidFill>
                  <a:srgbClr val="000000"/>
                </a:solidFill>
                <a:effectLst/>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00000"/>
                </a:solidFill>
                <a:cs typeface="Courier New" panose="02070309020205020404" pitchFamily="49" charset="0"/>
              </a:rPr>
              <a:t>			</a:t>
            </a:r>
            <a:r>
              <a:rPr kumimoji="0" lang="en-US" altLang="en-US" sz="2400" b="1" i="0" u="none" strike="noStrike" cap="none" normalizeH="0" baseline="0" dirty="0">
                <a:ln>
                  <a:noFill/>
                </a:ln>
                <a:solidFill>
                  <a:srgbClr val="008000"/>
                </a:solidFill>
                <a:effectLst/>
                <a:cs typeface="Courier New" panose="02070309020205020404" pitchFamily="49" charset="0"/>
              </a:rPr>
              <a:t>"number"</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BA2121"/>
                </a:solidFill>
                <a:effectLst/>
                <a:cs typeface="Courier New" panose="02070309020205020404" pitchFamily="49" charset="0"/>
              </a:rPr>
              <a:t>"212 555-1234"</a:t>
            </a:r>
            <a:r>
              <a:rPr kumimoji="0" lang="en-US" altLang="en-US" sz="2400" b="0" i="0" u="none" strike="noStrike" cap="none" normalizeH="0" baseline="0" dirty="0">
                <a:ln>
                  <a:noFill/>
                </a:ln>
                <a:solidFill>
                  <a:srgbClr val="000000"/>
                </a:solidFill>
                <a:effectLst/>
                <a:cs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00000"/>
                </a:solidFill>
                <a:cs typeface="Courier New" panose="02070309020205020404" pitchFamily="49" charset="0"/>
              </a:rPr>
              <a:t>		         </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1" i="0" u="none" strike="noStrike" cap="none" normalizeH="0" baseline="0" dirty="0">
                <a:ln>
                  <a:noFill/>
                </a:ln>
                <a:solidFill>
                  <a:srgbClr val="008000"/>
                </a:solidFill>
                <a:effectLst/>
                <a:cs typeface="Courier New" panose="02070309020205020404" pitchFamily="49" charset="0"/>
              </a:rPr>
              <a:t>"type"</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BA2121"/>
                </a:solidFill>
                <a:effectLst/>
                <a:cs typeface="Courier New" panose="02070309020205020404" pitchFamily="49" charset="0"/>
              </a:rPr>
              <a:t>"office"</a:t>
            </a:r>
            <a:r>
              <a:rPr kumimoji="0" lang="en-US" altLang="en-US" sz="2400" b="0" i="0" u="none" strike="noStrike" cap="none" normalizeH="0" baseline="0" dirty="0">
                <a:ln>
                  <a:noFill/>
                </a:ln>
                <a:solidFill>
                  <a:srgbClr val="000000"/>
                </a:solidFill>
                <a:effectLst/>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000000"/>
                </a:solidFill>
                <a:cs typeface="Courier New" panose="02070309020205020404" pitchFamily="49" charset="0"/>
              </a:rPr>
              <a:t>			</a:t>
            </a:r>
            <a:r>
              <a:rPr kumimoji="0" lang="en-US" altLang="en-US" sz="2400" b="1" i="0" u="none" strike="noStrike" cap="none" normalizeH="0" baseline="0" dirty="0">
                <a:ln>
                  <a:noFill/>
                </a:ln>
                <a:solidFill>
                  <a:srgbClr val="008000"/>
                </a:solidFill>
                <a:effectLst/>
                <a:cs typeface="Courier New" panose="02070309020205020404" pitchFamily="49" charset="0"/>
              </a:rPr>
              <a:t>"number"</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rgbClr val="BA2121"/>
                </a:solidFill>
                <a:effectLst/>
                <a:cs typeface="Courier New" panose="02070309020205020404" pitchFamily="49" charset="0"/>
              </a:rPr>
              <a:t>"646 555-4567"</a:t>
            </a:r>
            <a:r>
              <a:rPr kumimoji="0" lang="en-US" altLang="en-US" sz="2400" b="0" i="0" u="none" strike="noStrike" cap="none" normalizeH="0" baseline="0" dirty="0">
                <a:ln>
                  <a:noFill/>
                </a:ln>
                <a:solidFill>
                  <a:srgbClr val="000000"/>
                </a:solidFill>
                <a:effectLst/>
                <a:cs typeface="Courier New" panose="02070309020205020404" pitchFamily="49" charset="0"/>
              </a:rPr>
              <a:t> } ], </a:t>
            </a:r>
            <a:r>
              <a:rPr kumimoji="0" lang="en-US" altLang="en-US" sz="2400" b="1" i="0" u="none" strike="noStrike" cap="none" normalizeH="0" baseline="0" dirty="0">
                <a:ln>
                  <a:noFill/>
                </a:ln>
                <a:solidFill>
                  <a:srgbClr val="008000"/>
                </a:solidFill>
                <a:effectLst/>
                <a:cs typeface="Courier New" panose="02070309020205020404" pitchFamily="49" charset="0"/>
              </a:rPr>
              <a:t>"children"</a:t>
            </a:r>
            <a:r>
              <a:rPr kumimoji="0" lang="en-US" altLang="en-US" sz="2400" b="0" i="0" u="none" strike="noStrike" cap="none" normalizeH="0" baseline="0" dirty="0">
                <a:ln>
                  <a:noFill/>
                </a:ln>
                <a:solidFill>
                  <a:srgbClr val="000000"/>
                </a:solidFill>
                <a:effectLst/>
                <a:cs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8000"/>
                </a:solidFill>
                <a:effectLst/>
                <a:cs typeface="Courier New" panose="02070309020205020404" pitchFamily="49" charset="0"/>
              </a:rPr>
              <a:t>"spouse"</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1" i="0" u="none" strike="noStrike" cap="none" normalizeH="0" baseline="0" dirty="0">
                <a:ln>
                  <a:noFill/>
                </a:ln>
                <a:solidFill>
                  <a:srgbClr val="008000"/>
                </a:solidFill>
                <a:effectLst/>
                <a:cs typeface="Courier New" panose="02070309020205020404" pitchFamily="49" charset="0"/>
              </a:rPr>
              <a:t>null</a:t>
            </a:r>
            <a:r>
              <a:rPr kumimoji="0" lang="en-US" altLang="en-US" sz="2400" b="0" i="0" u="none" strike="noStrike" cap="none" normalizeH="0" baseline="0" dirty="0">
                <a:ln>
                  <a:noFill/>
                </a:ln>
                <a:solidFill>
                  <a:srgbClr val="000000"/>
                </a:solidFill>
                <a:effectLst/>
                <a:cs typeface="Courier New" panose="02070309020205020404" pitchFamily="49" charset="0"/>
              </a:rPr>
              <a:t> }</a:t>
            </a:r>
            <a:r>
              <a:rPr kumimoji="0" lang="en-US" altLang="en-US" sz="24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23232453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02" y="0"/>
            <a:ext cx="8229600" cy="703237"/>
          </a:xfrm>
        </p:spPr>
        <p:txBody>
          <a:bodyPr>
            <a:normAutofit fontScale="90000"/>
          </a:bodyPr>
          <a:lstStyle/>
          <a:p>
            <a:r>
              <a:rPr lang="en-US" dirty="0"/>
              <a:t>JSON support</a:t>
            </a:r>
          </a:p>
        </p:txBody>
      </p:sp>
      <p:sp>
        <p:nvSpPr>
          <p:cNvPr id="3" name="Content Placeholder 2"/>
          <p:cNvSpPr>
            <a:spLocks noGrp="1"/>
          </p:cNvSpPr>
          <p:nvPr>
            <p:ph idx="1"/>
          </p:nvPr>
        </p:nvSpPr>
        <p:spPr>
          <a:xfrm>
            <a:off x="469702" y="908720"/>
            <a:ext cx="8229600" cy="5246043"/>
          </a:xfrm>
        </p:spPr>
        <p:txBody>
          <a:bodyPr>
            <a:normAutofit lnSpcReduction="10000"/>
          </a:bodyPr>
          <a:lstStyle/>
          <a:p>
            <a:r>
              <a:rPr lang="en-US" sz="2000" dirty="0"/>
              <a:t>D3 selections are arrays</a:t>
            </a:r>
          </a:p>
          <a:p>
            <a:pPr marL="0" indent="0">
              <a:buNone/>
            </a:pPr>
            <a:endParaRPr lang="en-US" sz="2000" dirty="0"/>
          </a:p>
          <a:p>
            <a:pPr marL="0" indent="0">
              <a:buNone/>
            </a:pPr>
            <a:r>
              <a:rPr lang="en-US" sz="1400" b="1" dirty="0" err="1"/>
              <a:t>var</a:t>
            </a:r>
            <a:r>
              <a:rPr lang="en-US" sz="1400" dirty="0"/>
              <a:t> </a:t>
            </a:r>
            <a:r>
              <a:rPr lang="en-US" sz="1400" dirty="0" err="1"/>
              <a:t>jsonCircles</a:t>
            </a:r>
            <a:r>
              <a:rPr lang="en-US" sz="1400" dirty="0"/>
              <a:t> = [ </a:t>
            </a:r>
          </a:p>
          <a:p>
            <a:pPr marL="0" indent="0">
              <a:buNone/>
            </a:pPr>
            <a:r>
              <a:rPr lang="en-US" sz="1400" dirty="0"/>
              <a:t>{ "</a:t>
            </a:r>
            <a:r>
              <a:rPr lang="en-US" sz="1400" dirty="0" err="1"/>
              <a:t>x_axis</a:t>
            </a:r>
            <a:r>
              <a:rPr lang="en-US" sz="1400" dirty="0"/>
              <a:t>": 30, "</a:t>
            </a:r>
            <a:r>
              <a:rPr lang="en-US" sz="1400" dirty="0" err="1"/>
              <a:t>y_axis</a:t>
            </a:r>
            <a:r>
              <a:rPr lang="en-US" sz="1400" dirty="0"/>
              <a:t>": 30, "radius": 20, "color" : "green" }, </a:t>
            </a:r>
          </a:p>
          <a:p>
            <a:pPr marL="0" indent="0">
              <a:buNone/>
            </a:pPr>
            <a:r>
              <a:rPr lang="en-US" sz="1400" dirty="0"/>
              <a:t>{ "</a:t>
            </a:r>
            <a:r>
              <a:rPr lang="en-US" sz="1400" dirty="0" err="1"/>
              <a:t>x_axis</a:t>
            </a:r>
            <a:r>
              <a:rPr lang="en-US" sz="1400" dirty="0"/>
              <a:t>": 70, "</a:t>
            </a:r>
            <a:r>
              <a:rPr lang="en-US" sz="1400" dirty="0" err="1"/>
              <a:t>y_axis</a:t>
            </a:r>
            <a:r>
              <a:rPr lang="en-US" sz="1400" dirty="0"/>
              <a:t>": 70, "radius": 20, "color" : "purple"}, </a:t>
            </a:r>
          </a:p>
          <a:p>
            <a:pPr marL="0" indent="0">
              <a:buNone/>
            </a:pPr>
            <a:r>
              <a:rPr lang="en-US" sz="1400" dirty="0"/>
              <a:t>{ "</a:t>
            </a:r>
            <a:r>
              <a:rPr lang="en-US" sz="1400" dirty="0" err="1"/>
              <a:t>x_axis</a:t>
            </a:r>
            <a:r>
              <a:rPr lang="en-US" sz="1400" dirty="0"/>
              <a:t>": 110, "</a:t>
            </a:r>
            <a:r>
              <a:rPr lang="en-US" sz="1400" dirty="0" err="1"/>
              <a:t>y_axis</a:t>
            </a:r>
            <a:r>
              <a:rPr lang="en-US" sz="1400" dirty="0"/>
              <a:t>": 100, "radius": 20, "color" : "red"}];</a:t>
            </a:r>
          </a:p>
          <a:p>
            <a:pPr marL="0" indent="0">
              <a:buNone/>
            </a:pPr>
            <a:endParaRPr lang="en-US" sz="1400" dirty="0"/>
          </a:p>
          <a:p>
            <a:pPr marL="0" indent="0">
              <a:buNone/>
            </a:pPr>
            <a:r>
              <a:rPr lang="en-US" sz="1400" dirty="0"/>
              <a:t>var </a:t>
            </a:r>
            <a:r>
              <a:rPr lang="en-US" sz="1400" dirty="0" err="1"/>
              <a:t>svgContainer</a:t>
            </a:r>
            <a:r>
              <a:rPr lang="en-US" sz="1400" dirty="0"/>
              <a:t> = d3.select("body").append("</a:t>
            </a:r>
            <a:r>
              <a:rPr lang="en-US" sz="1400" dirty="0" err="1"/>
              <a:t>svg</a:t>
            </a:r>
            <a:r>
              <a:rPr lang="en-US" sz="1400" dirty="0"/>
              <a:t>")</a:t>
            </a:r>
          </a:p>
          <a:p>
            <a:pPr marL="0" indent="0">
              <a:buNone/>
            </a:pPr>
            <a:r>
              <a:rPr lang="en-US" sz="1400" dirty="0"/>
              <a:t>                    .</a:t>
            </a:r>
            <a:r>
              <a:rPr lang="en-US" sz="1400" dirty="0" err="1"/>
              <a:t>attr</a:t>
            </a:r>
            <a:r>
              <a:rPr lang="en-US" sz="1400" dirty="0"/>
              <a:t>("width", 200)</a:t>
            </a:r>
          </a:p>
          <a:p>
            <a:pPr marL="0" indent="0">
              <a:buNone/>
            </a:pPr>
            <a:r>
              <a:rPr lang="en-US" sz="1400" dirty="0"/>
              <a:t>                    .</a:t>
            </a:r>
            <a:r>
              <a:rPr lang="en-US" sz="1400" dirty="0" err="1"/>
              <a:t>attr</a:t>
            </a:r>
            <a:r>
              <a:rPr lang="en-US" sz="1400" dirty="0"/>
              <a:t>("height", 200);</a:t>
            </a:r>
          </a:p>
          <a:p>
            <a:pPr marL="0" indent="0">
              <a:buNone/>
            </a:pPr>
            <a:endParaRPr lang="en-US" sz="1400" dirty="0"/>
          </a:p>
          <a:p>
            <a:pPr marL="0" indent="0">
              <a:buNone/>
            </a:pPr>
            <a:r>
              <a:rPr lang="fr-FR" sz="1400" b="1" dirty="0"/>
              <a:t>var</a:t>
            </a:r>
            <a:r>
              <a:rPr lang="fr-FR" sz="1400" dirty="0"/>
              <a:t> </a:t>
            </a:r>
            <a:r>
              <a:rPr lang="fr-FR" sz="1400" dirty="0" err="1"/>
              <a:t>circles</a:t>
            </a:r>
            <a:r>
              <a:rPr lang="fr-FR" sz="1400" dirty="0"/>
              <a:t> = </a:t>
            </a:r>
            <a:r>
              <a:rPr lang="fr-FR" sz="1400" dirty="0" err="1"/>
              <a:t>svgContainer.selectAll</a:t>
            </a:r>
            <a:r>
              <a:rPr lang="fr-FR" sz="1400" dirty="0"/>
              <a:t>("</a:t>
            </a:r>
            <a:r>
              <a:rPr lang="fr-FR" sz="1400" dirty="0" err="1"/>
              <a:t>circle</a:t>
            </a:r>
            <a:r>
              <a:rPr lang="fr-FR" sz="1400" dirty="0"/>
              <a:t>")</a:t>
            </a:r>
          </a:p>
          <a:p>
            <a:pPr marL="0" indent="0">
              <a:buNone/>
            </a:pPr>
            <a:r>
              <a:rPr lang="fr-FR" sz="1400" dirty="0"/>
              <a:t>	.data(</a:t>
            </a:r>
            <a:r>
              <a:rPr lang="fr-FR" sz="1400" dirty="0" err="1"/>
              <a:t>jsonCircles</a:t>
            </a:r>
            <a:r>
              <a:rPr lang="fr-FR" sz="1400" dirty="0"/>
              <a:t>)</a:t>
            </a:r>
          </a:p>
          <a:p>
            <a:pPr marL="0" indent="0">
              <a:buNone/>
            </a:pPr>
            <a:r>
              <a:rPr lang="fr-FR" sz="1400" dirty="0"/>
              <a:t>	.enter()</a:t>
            </a:r>
          </a:p>
          <a:p>
            <a:pPr marL="0" indent="0">
              <a:buNone/>
            </a:pPr>
            <a:r>
              <a:rPr lang="fr-FR" sz="1400" dirty="0"/>
              <a:t>	.append("</a:t>
            </a:r>
            <a:r>
              <a:rPr lang="fr-FR" sz="1400" dirty="0" err="1"/>
              <a:t>circle</a:t>
            </a:r>
            <a:r>
              <a:rPr lang="fr-FR" sz="1400" dirty="0"/>
              <a:t>");</a:t>
            </a:r>
          </a:p>
          <a:p>
            <a:pPr marL="0" indent="0">
              <a:buNone/>
            </a:pPr>
            <a:endParaRPr lang="fr-FR" sz="1400" dirty="0"/>
          </a:p>
          <a:p>
            <a:pPr marL="0" indent="0">
              <a:buNone/>
            </a:pPr>
            <a:r>
              <a:rPr lang="en-US" sz="1400" b="1" dirty="0" err="1"/>
              <a:t>var</a:t>
            </a:r>
            <a:r>
              <a:rPr lang="en-US" sz="1400" dirty="0"/>
              <a:t> </a:t>
            </a:r>
            <a:r>
              <a:rPr lang="en-US" sz="1400" dirty="0" err="1"/>
              <a:t>circleAttributes</a:t>
            </a:r>
            <a:r>
              <a:rPr lang="en-US" sz="1400" dirty="0"/>
              <a:t> = circles</a:t>
            </a:r>
          </a:p>
          <a:p>
            <a:pPr marL="0" indent="0">
              <a:buNone/>
            </a:pPr>
            <a:r>
              <a:rPr lang="en-US" sz="1400" dirty="0"/>
              <a:t>	.</a:t>
            </a:r>
            <a:r>
              <a:rPr lang="en-US" sz="1400" dirty="0" err="1"/>
              <a:t>attr</a:t>
            </a:r>
            <a:r>
              <a:rPr lang="en-US" sz="1400" dirty="0"/>
              <a:t>("cx", </a:t>
            </a:r>
            <a:r>
              <a:rPr lang="en-US" sz="1400" b="1" dirty="0"/>
              <a:t>function</a:t>
            </a:r>
            <a:r>
              <a:rPr lang="en-US" sz="1400" dirty="0"/>
              <a:t> (d) { </a:t>
            </a:r>
            <a:r>
              <a:rPr lang="en-US" sz="1400" b="1" dirty="0"/>
              <a:t>return</a:t>
            </a:r>
            <a:r>
              <a:rPr lang="en-US" sz="1400" dirty="0"/>
              <a:t> </a:t>
            </a:r>
            <a:r>
              <a:rPr lang="en-US" sz="1400" dirty="0" err="1"/>
              <a:t>d.x_axis</a:t>
            </a:r>
            <a:r>
              <a:rPr lang="en-US" sz="1400" dirty="0"/>
              <a:t>; })</a:t>
            </a:r>
          </a:p>
          <a:p>
            <a:pPr marL="0" indent="0">
              <a:buNone/>
            </a:pPr>
            <a:r>
              <a:rPr lang="en-US" sz="1400" dirty="0"/>
              <a:t>	.</a:t>
            </a:r>
            <a:r>
              <a:rPr lang="en-US" sz="1400" dirty="0" err="1"/>
              <a:t>attr</a:t>
            </a:r>
            <a:r>
              <a:rPr lang="en-US" sz="1400" dirty="0"/>
              <a:t>("cy", </a:t>
            </a:r>
            <a:r>
              <a:rPr lang="en-US" sz="1400" b="1" dirty="0"/>
              <a:t>function</a:t>
            </a:r>
            <a:r>
              <a:rPr lang="en-US" sz="1400" dirty="0"/>
              <a:t> (d) { </a:t>
            </a:r>
            <a:r>
              <a:rPr lang="en-US" sz="1400" b="1" dirty="0"/>
              <a:t>return</a:t>
            </a:r>
            <a:r>
              <a:rPr lang="en-US" sz="1400" dirty="0"/>
              <a:t> </a:t>
            </a:r>
            <a:r>
              <a:rPr lang="en-US" sz="1400" dirty="0" err="1"/>
              <a:t>d.y_axis</a:t>
            </a:r>
            <a:r>
              <a:rPr lang="en-US" sz="1400" dirty="0"/>
              <a:t>; })</a:t>
            </a:r>
          </a:p>
          <a:p>
            <a:pPr marL="0" indent="0">
              <a:buNone/>
            </a:pPr>
            <a:r>
              <a:rPr lang="en-US" sz="1400" dirty="0"/>
              <a:t>	.</a:t>
            </a:r>
            <a:r>
              <a:rPr lang="en-US" sz="1400" dirty="0" err="1"/>
              <a:t>attr</a:t>
            </a:r>
            <a:r>
              <a:rPr lang="en-US" sz="1400" dirty="0"/>
              <a:t>("r", </a:t>
            </a:r>
            <a:r>
              <a:rPr lang="en-US" sz="1400" b="1" dirty="0"/>
              <a:t>function</a:t>
            </a:r>
            <a:r>
              <a:rPr lang="en-US" sz="1400" dirty="0"/>
              <a:t> (d) { </a:t>
            </a:r>
            <a:r>
              <a:rPr lang="en-US" sz="1400" b="1" dirty="0"/>
              <a:t>return</a:t>
            </a:r>
            <a:r>
              <a:rPr lang="en-US" sz="1400" dirty="0"/>
              <a:t> </a:t>
            </a:r>
            <a:r>
              <a:rPr lang="en-US" sz="1400" dirty="0" err="1"/>
              <a:t>d.radius</a:t>
            </a:r>
            <a:r>
              <a:rPr lang="en-US" sz="1400" dirty="0"/>
              <a:t>; })</a:t>
            </a:r>
          </a:p>
          <a:p>
            <a:pPr marL="0" indent="0">
              <a:buNone/>
            </a:pPr>
            <a:r>
              <a:rPr lang="en-US" sz="1400" dirty="0"/>
              <a:t>	.style("fill", </a:t>
            </a:r>
            <a:r>
              <a:rPr lang="en-US" sz="1400" b="1" dirty="0"/>
              <a:t>function</a:t>
            </a:r>
            <a:r>
              <a:rPr lang="en-US" sz="1400" dirty="0"/>
              <a:t>(d) { </a:t>
            </a:r>
            <a:r>
              <a:rPr lang="en-US" sz="1400" b="1" dirty="0"/>
              <a:t>return</a:t>
            </a:r>
            <a:r>
              <a:rPr lang="en-US" sz="1400" dirty="0"/>
              <a:t> </a:t>
            </a:r>
            <a:r>
              <a:rPr lang="en-US" sz="1400" dirty="0" err="1"/>
              <a:t>d.color</a:t>
            </a:r>
            <a:r>
              <a:rPr lang="en-US" sz="1400" dirty="0"/>
              <a:t>; });</a:t>
            </a:r>
          </a:p>
          <a:p>
            <a:pPr marL="0" indent="0">
              <a:buNone/>
            </a:pPr>
            <a:endParaRPr lang="en-US" sz="1400" dirty="0"/>
          </a:p>
        </p:txBody>
      </p:sp>
    </p:spTree>
    <p:extLst>
      <p:ext uri="{BB962C8B-B14F-4D97-AF65-F5344CB8AC3E}">
        <p14:creationId xmlns:p14="http://schemas.microsoft.com/office/powerpoint/2010/main" val="2497972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from files</a:t>
            </a:r>
          </a:p>
        </p:txBody>
      </p:sp>
      <p:sp>
        <p:nvSpPr>
          <p:cNvPr id="3" name="Content Placeholder 2"/>
          <p:cNvSpPr>
            <a:spLocks noGrp="1"/>
          </p:cNvSpPr>
          <p:nvPr>
            <p:ph idx="1"/>
          </p:nvPr>
        </p:nvSpPr>
        <p:spPr/>
        <p:txBody>
          <a:bodyPr>
            <a:normAutofit lnSpcReduction="10000"/>
          </a:bodyPr>
          <a:lstStyle/>
          <a:p>
            <a:pPr lvl="0"/>
            <a:r>
              <a:rPr lang="en-US" sz="2800" dirty="0"/>
              <a:t>D3.csv (“file name”, callback(data)) – to directly open a csv file ignoring the header.  You can read more about it here: </a:t>
            </a:r>
            <a:r>
              <a:rPr lang="en-US" sz="2800" dirty="0">
                <a:hlinkClick r:id="rId2"/>
              </a:rPr>
              <a:t>https://www.tutorialsteacher.com/d3js/loading-data-from-file-in-d3js</a:t>
            </a:r>
            <a:endParaRPr lang="en-US" sz="2800" dirty="0"/>
          </a:p>
          <a:p>
            <a:pPr lvl="0"/>
            <a:r>
              <a:rPr lang="en-US" sz="2800" dirty="0"/>
              <a:t>D3.csv.parseRows – parses a csv string including the header</a:t>
            </a:r>
          </a:p>
          <a:p>
            <a:pPr lvl="0"/>
            <a:r>
              <a:rPr lang="en-US" sz="2800" dirty="0"/>
              <a:t>D3.csv.parse – parses a csv string ignoring the header.</a:t>
            </a:r>
          </a:p>
          <a:p>
            <a:pPr lvl="0"/>
            <a:r>
              <a:rPr lang="en-US" sz="2800" dirty="0"/>
              <a:t>D3.json – directly open a </a:t>
            </a:r>
            <a:r>
              <a:rPr lang="en-US" sz="2800" dirty="0" err="1"/>
              <a:t>json</a:t>
            </a:r>
            <a:r>
              <a:rPr lang="en-US" sz="2800" dirty="0"/>
              <a:t> file</a:t>
            </a:r>
          </a:p>
          <a:p>
            <a:pPr marL="0" indent="0">
              <a:buNone/>
            </a:pPr>
            <a:endParaRPr lang="en-US" sz="2800" dirty="0"/>
          </a:p>
        </p:txBody>
      </p:sp>
    </p:spTree>
    <p:extLst>
      <p:ext uri="{BB962C8B-B14F-4D97-AF65-F5344CB8AC3E}">
        <p14:creationId xmlns:p14="http://schemas.microsoft.com/office/powerpoint/2010/main" val="8676563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cs typeface="Arial" pitchFamily="34" charset="0"/>
              </a:rPr>
              <a:t>Scale</a:t>
            </a:r>
            <a:endParaRPr lang="en-GB" dirty="0">
              <a:cs typeface="Arial" pitchFamily="34" charset="0"/>
            </a:endParaRPr>
          </a:p>
        </p:txBody>
      </p:sp>
      <p:pic>
        <p:nvPicPr>
          <p:cNvPr id="4" name="Picture 3" descr="Screen shot 2011-10-15 at 6.13.52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3068960"/>
            <a:ext cx="8892480" cy="2392392"/>
          </a:xfrm>
          <a:prstGeom prst="rect">
            <a:avLst/>
          </a:prstGeom>
        </p:spPr>
      </p:pic>
      <p:sp>
        <p:nvSpPr>
          <p:cNvPr id="2" name="Rectangle 1"/>
          <p:cNvSpPr/>
          <p:nvPr/>
        </p:nvSpPr>
        <p:spPr>
          <a:xfrm>
            <a:off x="323528" y="1484784"/>
            <a:ext cx="8363272" cy="954107"/>
          </a:xfrm>
          <a:prstGeom prst="rect">
            <a:avLst/>
          </a:prstGeom>
        </p:spPr>
        <p:txBody>
          <a:bodyPr wrap="square">
            <a:spAutoFit/>
          </a:bodyPr>
          <a:lstStyle/>
          <a:p>
            <a:r>
              <a:rPr lang="en-US" sz="2800" dirty="0">
                <a:solidFill>
                  <a:srgbClr val="222222"/>
                </a:solidFill>
                <a:latin typeface="Baskerville"/>
              </a:rPr>
              <a:t>Scales are functions that map from an input domain to an output range.</a:t>
            </a:r>
            <a:endParaRPr lang="en-US" sz="2800" dirty="0"/>
          </a:p>
        </p:txBody>
      </p:sp>
    </p:spTree>
    <p:extLst>
      <p:ext uri="{BB962C8B-B14F-4D97-AF65-F5344CB8AC3E}">
        <p14:creationId xmlns:p14="http://schemas.microsoft.com/office/powerpoint/2010/main" val="16463858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95536" y="116632"/>
            <a:ext cx="8229600" cy="6048672"/>
          </a:xfrm>
        </p:spPr>
        <p:txBody>
          <a:bodyPr>
            <a:normAutofit/>
          </a:bodyPr>
          <a:lstStyle/>
          <a:p>
            <a:pPr marL="0" indent="0">
              <a:buNone/>
            </a:pPr>
            <a:r>
              <a:rPr lang="en-US" sz="2400" dirty="0"/>
              <a:t>d3.scale.linear.</a:t>
            </a:r>
          </a:p>
          <a:p>
            <a:pPr marL="0" indent="0">
              <a:buNone/>
            </a:pPr>
            <a:r>
              <a:rPr lang="en-US" sz="2400" dirty="0"/>
              <a:t>	  domain(...) </a:t>
            </a:r>
          </a:p>
          <a:p>
            <a:pPr marL="0" indent="0">
              <a:buNone/>
            </a:pPr>
            <a:r>
              <a:rPr lang="en-US" sz="2400" dirty="0"/>
              <a:t>               .range(...)</a:t>
            </a:r>
          </a:p>
          <a:p>
            <a:pPr marL="0" indent="0">
              <a:buNone/>
            </a:pPr>
            <a:endParaRPr lang="en-US" sz="2400" dirty="0"/>
          </a:p>
          <a:p>
            <a:pPr marL="0" indent="0">
              <a:buNone/>
            </a:pPr>
            <a:r>
              <a:rPr lang="en-US" sz="2400" b="1" dirty="0" err="1"/>
              <a:t>var</a:t>
            </a:r>
            <a:r>
              <a:rPr lang="en-US" sz="2400" dirty="0"/>
              <a:t> </a:t>
            </a:r>
            <a:r>
              <a:rPr lang="en-US" sz="2400" dirty="0" err="1"/>
              <a:t>tempScale</a:t>
            </a:r>
            <a:r>
              <a:rPr lang="en-US" sz="2400" dirty="0"/>
              <a:t> = d3.scale.linear() </a:t>
            </a:r>
          </a:p>
          <a:p>
            <a:pPr marL="0" indent="0">
              <a:buNone/>
            </a:pPr>
            <a:r>
              <a:rPr lang="en-US" sz="2400" dirty="0"/>
              <a:t>			.domain([0, 10]) </a:t>
            </a:r>
          </a:p>
          <a:p>
            <a:pPr marL="0" indent="0">
              <a:buNone/>
            </a:pPr>
            <a:r>
              <a:rPr lang="en-US" sz="2400" dirty="0"/>
              <a:t>			.range( [0, 100]); </a:t>
            </a:r>
          </a:p>
          <a:p>
            <a:pPr marL="0" indent="0">
              <a:buNone/>
            </a:pPr>
            <a:r>
              <a:rPr lang="en-US" sz="2400" dirty="0" err="1"/>
              <a:t>tempScale</a:t>
            </a:r>
            <a:r>
              <a:rPr lang="en-US" sz="2400" dirty="0"/>
              <a:t>.(5); // returns 50</a:t>
            </a:r>
          </a:p>
          <a:p>
            <a:pPr marL="0" indent="0">
              <a:buNone/>
            </a:pPr>
            <a:r>
              <a:rPr lang="en-US" sz="2400" dirty="0" err="1"/>
              <a:t>tempScale.domain</a:t>
            </a:r>
            <a:r>
              <a:rPr lang="en-US" sz="2400" dirty="0"/>
              <a:t>([0, 100]); </a:t>
            </a:r>
          </a:p>
          <a:p>
            <a:pPr marL="0" indent="0">
              <a:buNone/>
            </a:pPr>
            <a:r>
              <a:rPr lang="en-US" sz="2400" dirty="0" err="1"/>
              <a:t>tempScale</a:t>
            </a:r>
            <a:r>
              <a:rPr lang="en-US" sz="2400" dirty="0"/>
              <a:t>(5); // returns 5</a:t>
            </a:r>
          </a:p>
          <a:p>
            <a:pPr marL="0" indent="0">
              <a:buNone/>
            </a:pPr>
            <a:endParaRPr lang="en-US" sz="2400" dirty="0"/>
          </a:p>
          <a:p>
            <a:pPr marL="0" indent="0">
              <a:buNone/>
            </a:pPr>
            <a:endParaRPr lang="en-US" sz="2400" dirty="0"/>
          </a:p>
          <a:p>
            <a:pPr marL="0" indent="0">
              <a:buNone/>
            </a:pPr>
            <a:r>
              <a:rPr lang="en-US" sz="2400" dirty="0">
                <a:hlinkClick r:id="rId2"/>
              </a:rPr>
              <a:t>https://alignedleft.com/tutorials/d3/scales</a:t>
            </a:r>
            <a:endParaRPr lang="en-US" sz="2400" dirty="0"/>
          </a:p>
        </p:txBody>
      </p:sp>
    </p:spTree>
    <p:extLst>
      <p:ext uri="{BB962C8B-B14F-4D97-AF65-F5344CB8AC3E}">
        <p14:creationId xmlns:p14="http://schemas.microsoft.com/office/powerpoint/2010/main" val="18328103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Related functions</a:t>
            </a:r>
          </a:p>
        </p:txBody>
      </p:sp>
      <p:sp>
        <p:nvSpPr>
          <p:cNvPr id="4" name="Rectangle 1"/>
          <p:cNvSpPr>
            <a:spLocks noGrp="1" noChangeArrowheads="1"/>
          </p:cNvSpPr>
          <p:nvPr>
            <p:ph idx="1"/>
          </p:nvPr>
        </p:nvSpPr>
        <p:spPr bwMode="auto">
          <a:xfrm>
            <a:off x="457200" y="1345955"/>
            <a:ext cx="8229600" cy="1846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mn-lt"/>
                <a:hlinkClick r:id="rId2"/>
              </a:rPr>
              <a:t>nice()</a:t>
            </a:r>
            <a:r>
              <a:rPr lang="en-US" altLang="en-US" sz="2000" dirty="0">
                <a:latin typeface="+mn-lt"/>
              </a:rPr>
              <a:t> — This tells the scale to take whatever input domain that you gave to range() and expand both ends to the nearest round value. “For example, for a domain of [0.20147987687960267, 0.996679553296417</a:t>
            </a:r>
            <a:r>
              <a:rPr kumimoji="0" lang="en-US" altLang="en-US" sz="1100" b="0" i="0" u="none" strike="noStrike" cap="none" normalizeH="0" baseline="0" dirty="0">
                <a:ln>
                  <a:noFill/>
                </a:ln>
                <a:solidFill>
                  <a:srgbClr val="222222"/>
                </a:solidFill>
                <a:effectLst/>
                <a:latin typeface="Baskerville"/>
              </a:rPr>
              <a:t>], </a:t>
            </a:r>
            <a:r>
              <a:rPr lang="en-US" altLang="en-US" sz="2000" dirty="0">
                <a:latin typeface="+mn-lt"/>
              </a:rPr>
              <a:t>the nice domain is [0.2, 1].” This is useful for normal people, who find it hard to read numbers like 0.20147987687960267.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mn-lt"/>
            </a:endParaRPr>
          </a:p>
        </p:txBody>
      </p:sp>
      <p:sp>
        <p:nvSpPr>
          <p:cNvPr id="6" name="Rectangle 3"/>
          <p:cNvSpPr>
            <a:spLocks noChangeArrowheads="1"/>
          </p:cNvSpPr>
          <p:nvPr/>
        </p:nvSpPr>
        <p:spPr bwMode="auto">
          <a:xfrm>
            <a:off x="397021" y="3346029"/>
            <a:ext cx="8516157" cy="12311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err="1">
                <a:latin typeface="+mn-lt"/>
                <a:hlinkClick r:id="rId3"/>
              </a:rPr>
              <a:t>rangeRound</a:t>
            </a:r>
            <a:r>
              <a:rPr lang="en-US" altLang="en-US" sz="2000" dirty="0">
                <a:latin typeface="+mn-lt"/>
                <a:hlinkClick r:id="rId3"/>
              </a:rPr>
              <a:t>()</a:t>
            </a:r>
            <a:r>
              <a:rPr lang="en-US" altLang="en-US" sz="2000" dirty="0">
                <a:latin typeface="+mn-lt"/>
              </a:rPr>
              <a:t> — Use </a:t>
            </a:r>
            <a:r>
              <a:rPr lang="en-US" altLang="en-US" sz="2000" dirty="0" err="1">
                <a:latin typeface="+mn-lt"/>
              </a:rPr>
              <a:t>rangeRound</a:t>
            </a:r>
            <a:r>
              <a:rPr lang="en-US" altLang="en-US" sz="2000" dirty="0">
                <a:latin typeface="+mn-lt"/>
              </a:rPr>
              <a:t>() in place of range() and all values output by the scale will be rounded to the nearest whole number. This is useful if you want shapes to have exact pixel values, to avoid the fuzzy edges that may arise with antialiasing. </a:t>
            </a:r>
          </a:p>
        </p:txBody>
      </p:sp>
      <p:sp>
        <p:nvSpPr>
          <p:cNvPr id="7" name="Rectangle 4"/>
          <p:cNvSpPr>
            <a:spLocks noChangeArrowheads="1"/>
          </p:cNvSpPr>
          <p:nvPr/>
        </p:nvSpPr>
        <p:spPr bwMode="auto">
          <a:xfrm>
            <a:off x="430552" y="4730077"/>
            <a:ext cx="8389920" cy="184665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mn-lt"/>
                <a:hlinkClick r:id="rId4"/>
              </a:rPr>
              <a:t>clamp()</a:t>
            </a:r>
            <a:r>
              <a:rPr lang="en-US" altLang="en-US" sz="2000" dirty="0">
                <a:latin typeface="+mn-lt"/>
              </a:rPr>
              <a:t> — By default, a linear scale can return values outside of the specified range. For example, if given a value outside of its expected input domain, a scale will return a number also outside of the output range. Calling .clamp(true) on a scale, however, forces all output values to be within the specified range. Meaning, excessive values will be rounded to the range’s low or high value (whichever is nearest). </a:t>
            </a:r>
          </a:p>
        </p:txBody>
      </p:sp>
    </p:spTree>
    <p:extLst>
      <p:ext uri="{BB962C8B-B14F-4D97-AF65-F5344CB8AC3E}">
        <p14:creationId xmlns:p14="http://schemas.microsoft.com/office/powerpoint/2010/main" val="16534114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axes</a:t>
            </a:r>
          </a:p>
        </p:txBody>
      </p:sp>
      <p:sp>
        <p:nvSpPr>
          <p:cNvPr id="3" name="Content Placeholder 2"/>
          <p:cNvSpPr>
            <a:spLocks noGrp="1"/>
          </p:cNvSpPr>
          <p:nvPr>
            <p:ph idx="1"/>
          </p:nvPr>
        </p:nvSpPr>
        <p:spPr>
          <a:xfrm>
            <a:off x="251520" y="1600200"/>
            <a:ext cx="8892480" cy="4525963"/>
          </a:xfrm>
        </p:spPr>
        <p:txBody>
          <a:bodyPr>
            <a:normAutofit/>
          </a:bodyPr>
          <a:lstStyle/>
          <a:p>
            <a:pPr marL="0" indent="0">
              <a:buNone/>
            </a:pPr>
            <a:r>
              <a:rPr lang="en-US" dirty="0" err="1"/>
              <a:t>Var</a:t>
            </a:r>
            <a:r>
              <a:rPr lang="en-US" dirty="0"/>
              <a:t> </a:t>
            </a:r>
            <a:r>
              <a:rPr lang="en-US" dirty="0" err="1"/>
              <a:t>xAxis</a:t>
            </a:r>
            <a:r>
              <a:rPr lang="en-US" dirty="0"/>
              <a:t> = d3.svg.axis()        // returns a function</a:t>
            </a:r>
          </a:p>
          <a:p>
            <a:pPr marL="0" indent="0">
              <a:buNone/>
            </a:pPr>
            <a:r>
              <a:rPr lang="en-US" dirty="0"/>
              <a:t>		.scale(</a:t>
            </a:r>
            <a:r>
              <a:rPr lang="en-US" dirty="0" err="1"/>
              <a:t>xScale</a:t>
            </a:r>
            <a:r>
              <a:rPr lang="en-US" dirty="0"/>
              <a:t>)</a:t>
            </a:r>
          </a:p>
          <a:p>
            <a:pPr marL="0" indent="0">
              <a:buNone/>
            </a:pPr>
            <a:r>
              <a:rPr lang="en-US" dirty="0"/>
              <a:t>		.orient(bottom)  </a:t>
            </a:r>
            <a:r>
              <a:rPr lang="en-US" sz="1400" dirty="0"/>
              <a:t>// where the labels should appear relevant to the axis</a:t>
            </a:r>
          </a:p>
          <a:p>
            <a:pPr marL="0" indent="0">
              <a:buNone/>
            </a:pPr>
            <a:r>
              <a:rPr lang="en-US" dirty="0"/>
              <a:t>		.ticks(5)   // </a:t>
            </a:r>
            <a:r>
              <a:rPr lang="en-US" sz="2000" dirty="0" err="1"/>
              <a:t>num</a:t>
            </a:r>
            <a:r>
              <a:rPr lang="en-US" sz="2000" dirty="0"/>
              <a:t> of axis ticks</a:t>
            </a:r>
          </a:p>
          <a:p>
            <a:pPr marL="0" indent="0">
              <a:buNone/>
            </a:pPr>
            <a:endParaRPr lang="en-US" dirty="0"/>
          </a:p>
          <a:p>
            <a:pPr marL="0" indent="0">
              <a:buNone/>
            </a:pPr>
            <a:r>
              <a:rPr lang="en-US" dirty="0" err="1"/>
              <a:t>svg.append</a:t>
            </a:r>
            <a:r>
              <a:rPr lang="en-US" dirty="0"/>
              <a:t>(“g”)</a:t>
            </a:r>
          </a:p>
          <a:p>
            <a:pPr marL="0" indent="0">
              <a:buNone/>
            </a:pPr>
            <a:r>
              <a:rPr lang="en-US" dirty="0"/>
              <a:t>      .call(</a:t>
            </a:r>
            <a:r>
              <a:rPr lang="en-US" dirty="0" err="1"/>
              <a:t>xAxis</a:t>
            </a:r>
            <a:r>
              <a:rPr lang="en-US" dirty="0"/>
              <a:t>)</a:t>
            </a:r>
          </a:p>
        </p:txBody>
      </p:sp>
    </p:spTree>
    <p:extLst>
      <p:ext uri="{BB962C8B-B14F-4D97-AF65-F5344CB8AC3E}">
        <p14:creationId xmlns:p14="http://schemas.microsoft.com/office/powerpoint/2010/main" val="39101233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16632"/>
            <a:ext cx="8229600" cy="1756792"/>
          </a:xfrm>
        </p:spPr>
        <p:txBody>
          <a:bodyPr>
            <a:normAutofit/>
          </a:bodyPr>
          <a:lstStyle/>
          <a:p>
            <a:pPr marL="0" indent="0">
              <a:buNone/>
            </a:pPr>
            <a:r>
              <a:rPr lang="en-US" sz="2800" dirty="0" err="1"/>
              <a:t>svg.append</a:t>
            </a:r>
            <a:r>
              <a:rPr lang="en-US" sz="2800" dirty="0"/>
              <a:t>(“g”)</a:t>
            </a:r>
          </a:p>
          <a:p>
            <a:pPr marL="0" indent="0">
              <a:buNone/>
            </a:pPr>
            <a:r>
              <a:rPr lang="en-US" sz="2800" dirty="0"/>
              <a:t>      .</a:t>
            </a:r>
            <a:r>
              <a:rPr lang="en-US" sz="2800" dirty="0" err="1"/>
              <a:t>attr</a:t>
            </a:r>
            <a:r>
              <a:rPr lang="en-US" sz="2800" dirty="0"/>
              <a:t>(“class”, “axis”)</a:t>
            </a:r>
          </a:p>
          <a:p>
            <a:pPr marL="0" indent="0">
              <a:buNone/>
            </a:pPr>
            <a:r>
              <a:rPr lang="en-US" sz="2800" dirty="0"/>
              <a:t>      .call(</a:t>
            </a:r>
            <a:r>
              <a:rPr lang="en-US" sz="2800" dirty="0" err="1"/>
              <a:t>xAxis</a:t>
            </a:r>
            <a:r>
              <a:rPr lang="en-US" sz="2800" dirty="0"/>
              <a:t>)</a:t>
            </a:r>
          </a:p>
          <a:p>
            <a:pPr marL="0" indent="0">
              <a:buNone/>
            </a:pPr>
            <a:endParaRPr lang="en-US" sz="2800" dirty="0"/>
          </a:p>
          <a:p>
            <a:endParaRPr lang="en-US" sz="2800" dirty="0"/>
          </a:p>
        </p:txBody>
      </p:sp>
      <p:sp>
        <p:nvSpPr>
          <p:cNvPr id="5" name="Rectangle 2"/>
          <p:cNvSpPr>
            <a:spLocks noChangeArrowheads="1"/>
          </p:cNvSpPr>
          <p:nvPr/>
        </p:nvSpPr>
        <p:spPr bwMode="auto">
          <a:xfrm>
            <a:off x="247573" y="2780928"/>
            <a:ext cx="8892480" cy="38779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t>.axis path,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t>.axis line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t>	fill: none;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t>	stroke: black;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t>	shape-rendering: </a:t>
            </a:r>
            <a:r>
              <a:rPr lang="en-US" altLang="en-US" sz="2800" dirty="0" err="1"/>
              <a:t>crispEdges</a:t>
            </a:r>
            <a:r>
              <a:rPr lang="en-US" altLang="en-US" sz="2800"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t>.axis text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t>	font-family: sans-serif;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t>	font-size: 11px; } </a:t>
            </a:r>
          </a:p>
        </p:txBody>
      </p:sp>
    </p:spTree>
    <p:extLst>
      <p:ext uri="{BB962C8B-B14F-4D97-AF65-F5344CB8AC3E}">
        <p14:creationId xmlns:p14="http://schemas.microsoft.com/office/powerpoint/2010/main" val="3618402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88566</TotalTime>
  <Words>3189</Words>
  <Application>Microsoft Macintosh PowerPoint</Application>
  <PresentationFormat>On-screen Show (4:3)</PresentationFormat>
  <Paragraphs>356</Paragraphs>
  <Slides>45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45</vt:i4>
      </vt:variant>
    </vt:vector>
  </HeadingPairs>
  <TitlesOfParts>
    <vt:vector size="51" baseType="lpstr">
      <vt:lpstr>Arial</vt:lpstr>
      <vt:lpstr>Baskerville</vt:lpstr>
      <vt:lpstr>Calibri</vt:lpstr>
      <vt:lpstr>Courier New</vt:lpstr>
      <vt:lpstr>Monaco</vt:lpstr>
      <vt:lpstr>Office Theme</vt:lpstr>
      <vt:lpstr>D3 Tutorial</vt:lpstr>
      <vt:lpstr>D3</vt:lpstr>
      <vt:lpstr>HTML + CSS</vt:lpstr>
      <vt:lpstr>JavaScript</vt:lpstr>
      <vt:lpstr>JavaScript</vt:lpstr>
      <vt:lpstr>SVG</vt:lpstr>
      <vt:lpstr>SVG</vt:lpstr>
      <vt:lpstr>SVG</vt:lpstr>
      <vt:lpstr>DOM</vt:lpstr>
      <vt:lpstr>Getting Started</vt:lpstr>
      <vt:lpstr>Select</vt:lpstr>
      <vt:lpstr>Select</vt:lpstr>
      <vt:lpstr>Append operator</vt:lpstr>
      <vt:lpstr>Adding an SVG element</vt:lpstr>
      <vt:lpstr>PowerPoint Presentation</vt:lpstr>
      <vt:lpstr>Binding data</vt:lpstr>
      <vt:lpstr>Binding data</vt:lpstr>
      <vt:lpstr>.selectall</vt:lpstr>
      <vt:lpstr>.data</vt:lpstr>
      <vt:lpstr>.enter</vt:lpstr>
      <vt:lpstr>.enter</vt:lpstr>
      <vt:lpstr>PowerPoint Presentation</vt:lpstr>
      <vt:lpstr>Using data that is bound to DOM elements</vt:lpstr>
      <vt:lpstr>JavaScript Functions in D3.js Operators</vt:lpstr>
      <vt:lpstr>JavaScript Functions in D3.js Operators</vt:lpstr>
      <vt:lpstr>Using SVG</vt:lpstr>
      <vt:lpstr>SVG</vt:lpstr>
      <vt:lpstr>SVG coordinate space</vt:lpstr>
      <vt:lpstr>Creating SVG elements based on data</vt:lpstr>
      <vt:lpstr>Creating SVG elements based on data</vt:lpstr>
      <vt:lpstr>PowerPoint Presentation</vt:lpstr>
      <vt:lpstr>Variables</vt:lpstr>
      <vt:lpstr>Functional Variables</vt:lpstr>
      <vt:lpstr>Animation</vt:lpstr>
      <vt:lpstr>Objects</vt:lpstr>
      <vt:lpstr>Data structures in D3</vt:lpstr>
      <vt:lpstr>JSON</vt:lpstr>
      <vt:lpstr>JSON</vt:lpstr>
      <vt:lpstr>JSON support</vt:lpstr>
      <vt:lpstr>Reading from files</vt:lpstr>
      <vt:lpstr>Scale</vt:lpstr>
      <vt:lpstr>PowerPoint Presentation</vt:lpstr>
      <vt:lpstr>Related functions</vt:lpstr>
      <vt:lpstr>Creating axes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 Tutorial</dc:title>
  <dc:creator>Joel</dc:creator>
  <cp:lastModifiedBy>יואל לניר</cp:lastModifiedBy>
  <cp:revision>105</cp:revision>
  <dcterms:created xsi:type="dcterms:W3CDTF">2012-05-20T10:37:00Z</dcterms:created>
  <dcterms:modified xsi:type="dcterms:W3CDTF">2025-05-20T06:45:34Z</dcterms:modified>
</cp:coreProperties>
</file>